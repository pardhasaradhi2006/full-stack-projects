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1"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AC537-2AF5-4EC8-A808-D9B3E16E4B4D}" v="38" dt="2026-03-08T17:58:40.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85030" autoAdjust="0"/>
  </p:normalViewPr>
  <p:slideViewPr>
    <p:cSldViewPr>
      <p:cViewPr varScale="1">
        <p:scale>
          <a:sx n="31" d="100"/>
          <a:sy n="31" d="100"/>
        </p:scale>
        <p:origin x="211"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3B949-6E36-4B98-A75F-6E3CB4A647FB}"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66CAFA-54E3-42CF-A958-163EDAE43D1B}" type="slidenum">
              <a:rPr lang="en-IN" smtClean="0"/>
              <a:t>‹#›</a:t>
            </a:fld>
            <a:endParaRPr lang="en-IN"/>
          </a:p>
        </p:txBody>
      </p:sp>
    </p:spTree>
    <p:extLst>
      <p:ext uri="{BB962C8B-B14F-4D97-AF65-F5344CB8AC3E}">
        <p14:creationId xmlns:p14="http://schemas.microsoft.com/office/powerpoint/2010/main" val="89137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66CAFA-54E3-42CF-A958-163EDAE43D1B}" type="slidenum">
              <a:rPr lang="en-IN" smtClean="0"/>
              <a:t>1</a:t>
            </a:fld>
            <a:endParaRPr lang="en-IN"/>
          </a:p>
        </p:txBody>
      </p:sp>
    </p:spTree>
    <p:extLst>
      <p:ext uri="{BB962C8B-B14F-4D97-AF65-F5344CB8AC3E}">
        <p14:creationId xmlns:p14="http://schemas.microsoft.com/office/powerpoint/2010/main" val="3080437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3"/>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T. PARDHA SARADHI – VTU26578 – 23UECS0896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 S. Manohar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6001643"/>
          </a:xfrm>
          <a:prstGeom prst="rect">
            <a:avLst/>
          </a:prstGeom>
          <a:noFill/>
        </p:spPr>
        <p:txBody>
          <a:bodyPr wrap="square" rtlCol="0">
            <a:spAutoFit/>
          </a:bodyPr>
          <a:lstStyle/>
          <a:p>
            <a:pPr algn="just"/>
            <a:r>
              <a:rPr lang="en-US" sz="3200" dirty="0"/>
              <a:t>In many modern applications, users work simultaneously on shared data, making real-time synchronization a crucial requirement. Traditional web systems often require manual page refreshes to view updates, which leads to delays and inconsistent information. This project addresses the problem by providing a system where event updates are instantly reflected across all connected users. The </a:t>
            </a:r>
            <a:r>
              <a:rPr lang="en-US" sz="3200" b="1" dirty="0"/>
              <a:t>Real-Time Event Synchronization Engine</a:t>
            </a:r>
            <a:r>
              <a:rPr lang="en-US" sz="3200" dirty="0"/>
              <a:t> ensures that whenever an event is created, modified, or deleted, the changes are automatically synchronized in real time. This improves collaboration, efficiency, and user experience. Such systems are widely used in applications like collaborative tools, live dashboards, shared calendars, and online platforms. The system is built using technologies like Node.js, Express.js, and MongoDB to manage and synchronize event data effectively. Overall, this project demonstrates how real-time communication can enhance modern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947600" y="1760400"/>
            <a:ext cx="149688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Many existing systems do not provide real-time updates when multiple users work on the same data.</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Users must manually refresh the page to see changes made by others.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This creates delays and inconsistent information across different users.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Managing events becomes difficult when updates are not instantly synchronized.</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Lack of real-time communication reduces collaboration efficiency.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may also lead to data conflicts when multiple users modify events simultaneously.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Therefore, there is a need for a system that automatically synchronizes event updates in real time.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A Real-Time Event Synchronization Engine can solve this problem by ensuring instant updates and better data consistency.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947600" y="1760400"/>
            <a:ext cx="14968800" cy="206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1" i="0" u="none" strike="noStrike" cap="none" normalizeH="0" baseline="0" dirty="0">
                <a:ln>
                  <a:noFill/>
                </a:ln>
                <a:solidFill>
                  <a:schemeClr val="tx1"/>
                </a:solidFill>
                <a:effectLst/>
                <a:latin typeface="+mj-lt"/>
              </a:rPr>
              <a:t>To design and develop</a:t>
            </a:r>
            <a:r>
              <a:rPr kumimoji="0" lang="en-US" altLang="en-US" sz="3200" b="0" i="0" u="none" strike="noStrike" cap="none" normalizeH="0" baseline="0" dirty="0">
                <a:ln>
                  <a:noFill/>
                </a:ln>
                <a:solidFill>
                  <a:schemeClr val="tx1"/>
                </a:solidFill>
                <a:effectLst/>
                <a:latin typeface="+mj-lt"/>
              </a:rPr>
              <a:t> a real-time event synchronization system that allows multiple users to create, update, and manage events simultaneously.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1" i="0" u="none" strike="noStrike" cap="none" normalizeH="0" baseline="0" dirty="0">
                <a:ln>
                  <a:noFill/>
                </a:ln>
                <a:solidFill>
                  <a:schemeClr val="tx1"/>
                </a:solidFill>
                <a:effectLst/>
                <a:latin typeface="+mj-lt"/>
              </a:rPr>
              <a:t>To implement</a:t>
            </a:r>
            <a:r>
              <a:rPr kumimoji="0" lang="en-US" altLang="en-US" sz="3200" b="0" i="0" u="none" strike="noStrike" cap="none" normalizeH="0" baseline="0" dirty="0">
                <a:ln>
                  <a:noFill/>
                </a:ln>
                <a:solidFill>
                  <a:schemeClr val="tx1"/>
                </a:solidFill>
                <a:effectLst/>
                <a:latin typeface="+mj-lt"/>
              </a:rPr>
              <a:t> instant data synchronization so that all event changes are automatically updated across connected clients without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947263" y="1760759"/>
            <a:ext cx="14969137"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provides a real-time platform where multiple users can create, update, and delete events simultaneously.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uses WebSocket-based communication to instantly synchronize data between the server and all connected clients.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Whenever an event is modified by one user, the update is automatically broadcast to all other users in real time.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stores event data securely in a database to maintain consistency and reliability.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This solution eliminates the need for manual page refresh to view updates.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improves collaboration by ensuring that all users always see the latest event information.</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reduces data conflicts that occur when multiple users work on the same data.</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Compared to traditional systems, it provides faster updates, better efficiency, and an improved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3"/>
          <a:srcRect l="1033"/>
          <a:stretch>
            <a:fillRect/>
          </a:stretch>
        </p:blipFill>
        <p:spPr>
          <a:xfrm>
            <a:off x="1947600" y="1291822"/>
            <a:ext cx="14593291" cy="8499877"/>
          </a:xfrm>
          <a:prstGeom prst="rect">
            <a:avLst/>
          </a:prstGeom>
        </p:spPr>
      </p:pic>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3">
            <a:extLst>
              <a:ext uri="{28A0092B-C50C-407E-A947-70E740481C1C}">
                <a14:useLocalDpi xmlns:a14="http://schemas.microsoft.com/office/drawing/2010/main" val="0"/>
              </a:ext>
            </a:extLst>
          </a:blip>
          <a:srcRect t="1160"/>
          <a:stretch>
            <a:fillRect/>
          </a:stretch>
        </p:blipFill>
        <p:spPr>
          <a:xfrm>
            <a:off x="3095625" y="1395413"/>
            <a:ext cx="12372975" cy="77104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555641"/>
          </a:xfrm>
          <a:prstGeom prst="rect">
            <a:avLst/>
          </a:prstGeom>
          <a:noFill/>
        </p:spPr>
        <p:txBody>
          <a:bodyPr wrap="square" rtlCol="0">
            <a:spAutoFit/>
          </a:bodyPr>
          <a:lstStyle/>
          <a:p>
            <a:r>
              <a:rPr lang="en-US" sz="2800" dirty="0">
                <a:solidFill>
                  <a:srgbClr val="0033CC"/>
                </a:solidFill>
              </a:rPr>
              <a:t>Frontend:</a:t>
            </a:r>
          </a:p>
          <a:p>
            <a:r>
              <a:rPr lang="en-IN" sz="2800" dirty="0"/>
              <a:t>1 . HTML5</a:t>
            </a:r>
          </a:p>
          <a:p>
            <a:r>
              <a:rPr lang="en-IN" sz="2800" dirty="0"/>
              <a:t>2 . CSS3</a:t>
            </a:r>
          </a:p>
          <a:p>
            <a:r>
              <a:rPr lang="en-IN" sz="2800" dirty="0"/>
              <a:t>3 . JavaScript</a:t>
            </a:r>
          </a:p>
          <a:p>
            <a:endParaRPr lang="en-IN" sz="2800" dirty="0"/>
          </a:p>
          <a:p>
            <a:r>
              <a:rPr lang="en-US" sz="2800" dirty="0">
                <a:solidFill>
                  <a:srgbClr val="0033CC"/>
                </a:solidFill>
              </a:rPr>
              <a:t>Backend:</a:t>
            </a:r>
          </a:p>
          <a:p>
            <a:r>
              <a:rPr lang="en-IN" sz="2800" dirty="0"/>
              <a:t>1 . PHP </a:t>
            </a:r>
          </a:p>
          <a:p>
            <a:r>
              <a:rPr lang="en-IN" sz="2800" dirty="0"/>
              <a:t>2 . MySQL</a:t>
            </a:r>
          </a:p>
          <a:p>
            <a:r>
              <a:rPr lang="en-US" sz="2800" dirty="0">
                <a:solidFill>
                  <a:srgbClr val="0033CC"/>
                </a:solidFill>
              </a:rPr>
              <a:t>Tools:</a:t>
            </a:r>
            <a:endParaRPr lang="en-IN" sz="2800" dirty="0"/>
          </a:p>
          <a:p>
            <a:r>
              <a:rPr lang="en-IN" sz="2800" dirty="0"/>
              <a:t>1 . XAMPP Server</a:t>
            </a:r>
          </a:p>
          <a:p>
            <a:r>
              <a:rPr lang="en-IN" sz="2800" dirty="0"/>
              <a:t>2 . Visual Studio Code</a:t>
            </a:r>
          </a:p>
          <a:p>
            <a:endParaRPr lang="en-IN" sz="2800" dirty="0"/>
          </a:p>
          <a:p>
            <a:r>
              <a:rPr lang="en-US" sz="2800" dirty="0">
                <a:solidFill>
                  <a:srgbClr val="0033CC"/>
                </a:solidFill>
              </a:rPr>
              <a:t>Software Requirements</a:t>
            </a:r>
            <a:r>
              <a:rPr lang="en-US" sz="2800" dirty="0"/>
              <a:t>:</a:t>
            </a:r>
          </a:p>
          <a:p>
            <a:r>
              <a:rPr lang="en-IN" sz="2800" dirty="0"/>
              <a:t>1 . Windows</a:t>
            </a:r>
          </a:p>
          <a:p>
            <a:r>
              <a:rPr lang="en-IN" sz="2800" dirty="0"/>
              <a:t>2 . Web Browser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F5398DDD-D1A9-CEE9-3819-AA0E654BCE1F}"/>
              </a:ext>
            </a:extLst>
          </p:cNvPr>
          <p:cNvPicPr>
            <a:picLocks noChangeAspect="1"/>
          </p:cNvPicPr>
          <p:nvPr/>
        </p:nvPicPr>
        <p:blipFill>
          <a:blip r:embed="rId3"/>
          <a:stretch>
            <a:fillRect/>
          </a:stretch>
        </p:blipFill>
        <p:spPr>
          <a:xfrm>
            <a:off x="1870048" y="1847776"/>
            <a:ext cx="16106934" cy="733432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6CE8CED-0D5D-1367-4303-06B714E20C1C}"/>
              </a:ext>
            </a:extLst>
          </p:cNvPr>
          <p:cNvSpPr txBox="1"/>
          <p:nvPr/>
        </p:nvSpPr>
        <p:spPr>
          <a:xfrm>
            <a:off x="2362200" y="1562100"/>
            <a:ext cx="6629400" cy="707886"/>
          </a:xfrm>
          <a:prstGeom prst="rect">
            <a:avLst/>
          </a:prstGeom>
          <a:noFill/>
        </p:spPr>
        <p:txBody>
          <a:bodyPr wrap="square" rtlCol="0">
            <a:spAutoFit/>
          </a:bodyPr>
          <a:lstStyle/>
          <a:p>
            <a:r>
              <a:rPr lang="en-US" sz="4000" b="1" dirty="0"/>
              <a:t>ADMIN PERSPECTIVE</a:t>
            </a:r>
            <a:endParaRPr lang="en-IN" sz="4000" b="1" dirty="0"/>
          </a:p>
        </p:txBody>
      </p:sp>
      <p:pic>
        <p:nvPicPr>
          <p:cNvPr id="5" name="Picture 4">
            <a:extLst>
              <a:ext uri="{FF2B5EF4-FFF2-40B4-BE49-F238E27FC236}">
                <a16:creationId xmlns:a16="http://schemas.microsoft.com/office/drawing/2014/main" id="{DDCE8243-A369-5341-DE5D-5CBAA341D763}"/>
              </a:ext>
            </a:extLst>
          </p:cNvPr>
          <p:cNvPicPr>
            <a:picLocks noChangeAspect="1"/>
          </p:cNvPicPr>
          <p:nvPr/>
        </p:nvPicPr>
        <p:blipFill>
          <a:blip r:embed="rId3"/>
          <a:stretch>
            <a:fillRect/>
          </a:stretch>
        </p:blipFill>
        <p:spPr>
          <a:xfrm>
            <a:off x="1876800" y="2475171"/>
            <a:ext cx="16113600" cy="7309947"/>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55037A6-ECE9-DA14-7F4B-E2E142444FD9}"/>
              </a:ext>
            </a:extLst>
          </p:cNvPr>
          <p:cNvSpPr txBox="1"/>
          <p:nvPr/>
        </p:nvSpPr>
        <p:spPr>
          <a:xfrm>
            <a:off x="2362200" y="1562100"/>
            <a:ext cx="6629400" cy="707886"/>
          </a:xfrm>
          <a:prstGeom prst="rect">
            <a:avLst/>
          </a:prstGeom>
          <a:noFill/>
        </p:spPr>
        <p:txBody>
          <a:bodyPr wrap="square" rtlCol="0">
            <a:spAutoFit/>
          </a:bodyPr>
          <a:lstStyle/>
          <a:p>
            <a:r>
              <a:rPr lang="en-US" sz="4000" b="1" dirty="0"/>
              <a:t>ADMIN PERSPECTIVE</a:t>
            </a:r>
            <a:endParaRPr lang="en-IN" sz="4000" b="1" dirty="0"/>
          </a:p>
        </p:txBody>
      </p:sp>
      <p:pic>
        <p:nvPicPr>
          <p:cNvPr id="3" name="Picture 2">
            <a:extLst>
              <a:ext uri="{FF2B5EF4-FFF2-40B4-BE49-F238E27FC236}">
                <a16:creationId xmlns:a16="http://schemas.microsoft.com/office/drawing/2014/main" id="{CB4C8C0B-16FB-2EE3-2610-5203FA9E85B0}"/>
              </a:ext>
            </a:extLst>
          </p:cNvPr>
          <p:cNvPicPr>
            <a:picLocks noChangeAspect="1"/>
          </p:cNvPicPr>
          <p:nvPr/>
        </p:nvPicPr>
        <p:blipFill>
          <a:blip r:embed="rId3"/>
          <a:stretch>
            <a:fillRect/>
          </a:stretch>
        </p:blipFill>
        <p:spPr>
          <a:xfrm>
            <a:off x="1870048" y="2476500"/>
            <a:ext cx="16036952" cy="729365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E82826E-2128-4526-421F-928F74F9E7B6}"/>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B60D8120-CDAB-E855-E5AE-248F0B95544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BF8D82D2-CA6F-0FFA-5438-7C3A0D7151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85AAD9-D85F-40DD-17B5-3B1AE4DCF820}"/>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9CDB438E-474F-99C1-AFA6-C761F618B700}"/>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E636EFA3-0E5D-BCD3-4B9B-C3CCC66F12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CFB3E7BC-FE94-27AD-B683-E67C72E3EC0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D157240-4896-1232-A146-0CF72D2813CA}"/>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DDE2BE2-B975-2EB6-7188-B4FEE91D8B1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7EDAE183-74BE-CC70-C49B-2742FC142F6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9E75656-2502-FAF5-A3CF-F340B9803E8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ADBF111-1B58-943F-7FBC-1937BD22D04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CFE622C2-DF60-67BE-A43E-5373586C7C3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D69D096-A01E-999B-07C2-4B5C70DE5FB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5277DBC-2EBC-FF1C-2097-80FE695561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1F895E2-6A6F-A976-3406-2C187D65A8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00DAF5-ADD7-C8DD-DF9A-396F06F408D5}"/>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DCA2D25-39A3-318A-2752-B846FD52108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FA62FA36-8942-2E61-63C1-BB4E3BCD60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3E972DCF-BD0B-9F32-0825-FD46921467E7}"/>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7B4FE36C-F449-55A2-DC0D-2D96206EBCB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C595C40-533F-787A-21D5-E8B03EB7129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575C61E4-ED33-52CA-4B5F-C0172D68C3FF}"/>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0EF758A-BA22-BAB2-963F-0B3E2A0A3C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597D309C-2726-9D89-9907-EA0A0226A0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97BCF150-3CB5-976F-5D14-56A668A89FF2}"/>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50AF578C-84BD-A92D-F3D2-1F5C50DFA3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3AEF52B-E1B7-28C0-99B4-98802178F57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07E6239-8F82-BA0B-D236-17C8D08C185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DBA5A7C3-0F05-AFFE-3375-51A944431D69}"/>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892AF18A-CC2B-05B8-AA17-0209ACED7C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CDF149E6-5AA2-5DBB-F5A1-0F5A7417FB1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8F2F21-C01F-EE1E-7DF2-3AF6913A351A}"/>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A5974D-675C-ECC1-825D-BE1546A91B9F}"/>
              </a:ext>
            </a:extLst>
          </p:cNvPr>
          <p:cNvSpPr txBox="1"/>
          <p:nvPr/>
        </p:nvSpPr>
        <p:spPr>
          <a:xfrm>
            <a:off x="2362200" y="1562100"/>
            <a:ext cx="6629400" cy="707886"/>
          </a:xfrm>
          <a:prstGeom prst="rect">
            <a:avLst/>
          </a:prstGeom>
          <a:noFill/>
        </p:spPr>
        <p:txBody>
          <a:bodyPr wrap="square" rtlCol="0">
            <a:spAutoFit/>
          </a:bodyPr>
          <a:lstStyle/>
          <a:p>
            <a:r>
              <a:rPr lang="en-US" sz="4000" b="1" dirty="0"/>
              <a:t>USER PERSPECTIVE</a:t>
            </a:r>
            <a:endParaRPr lang="en-IN" sz="4000" b="1" dirty="0"/>
          </a:p>
        </p:txBody>
      </p:sp>
      <p:pic>
        <p:nvPicPr>
          <p:cNvPr id="4" name="Picture 3">
            <a:extLst>
              <a:ext uri="{FF2B5EF4-FFF2-40B4-BE49-F238E27FC236}">
                <a16:creationId xmlns:a16="http://schemas.microsoft.com/office/drawing/2014/main" id="{61A229BF-6A65-2BC0-5312-4929D059ACA7}"/>
              </a:ext>
            </a:extLst>
          </p:cNvPr>
          <p:cNvPicPr>
            <a:picLocks noChangeAspect="1"/>
          </p:cNvPicPr>
          <p:nvPr/>
        </p:nvPicPr>
        <p:blipFill>
          <a:blip r:embed="rId3"/>
          <a:stretch>
            <a:fillRect/>
          </a:stretch>
        </p:blipFill>
        <p:spPr>
          <a:xfrm>
            <a:off x="1869600" y="2476500"/>
            <a:ext cx="16113600" cy="7313607"/>
          </a:xfrm>
          <a:prstGeom prst="rect">
            <a:avLst/>
          </a:prstGeom>
        </p:spPr>
      </p:pic>
    </p:spTree>
    <p:extLst>
      <p:ext uri="{BB962C8B-B14F-4D97-AF65-F5344CB8AC3E}">
        <p14:creationId xmlns:p14="http://schemas.microsoft.com/office/powerpoint/2010/main" val="4267886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986528"/>
          </a:xfrm>
          <a:prstGeom prst="rect">
            <a:avLst/>
          </a:prstGeom>
          <a:noFill/>
        </p:spPr>
        <p:txBody>
          <a:bodyPr wrap="square">
            <a:spAutoFit/>
          </a:bodyPr>
          <a:lstStyle/>
          <a:p>
            <a:r>
              <a:rPr lang="en-US" sz="3200" b="1" dirty="0">
                <a:solidFill>
                  <a:srgbClr val="0033CC"/>
                </a:solidFill>
              </a:rPr>
              <a:t>Advantages:</a:t>
            </a:r>
          </a:p>
          <a:p>
            <a:endParaRPr lang="en-US" sz="3200" b="1" dirty="0">
              <a:solidFill>
                <a:srgbClr val="0033CC"/>
              </a:solidFill>
            </a:endParaRPr>
          </a:p>
          <a:p>
            <a:r>
              <a:rPr lang="en-IN" sz="3200" dirty="0"/>
              <a:t>1 . Instant Event Updates.</a:t>
            </a:r>
          </a:p>
          <a:p>
            <a:r>
              <a:rPr lang="en-IN" sz="3200" dirty="0"/>
              <a:t>2 . No Manual Page Refresh.</a:t>
            </a:r>
          </a:p>
          <a:p>
            <a:r>
              <a:rPr lang="en-IN" sz="3200" dirty="0"/>
              <a:t>3 . Prevents Scheduling Conflicts.</a:t>
            </a:r>
          </a:p>
          <a:p>
            <a:r>
              <a:rPr lang="en-IN" sz="3200" dirty="0"/>
              <a:t>4 . Improved User Experience.</a:t>
            </a:r>
          </a:p>
          <a:p>
            <a:r>
              <a:rPr lang="en-IN" sz="3200" dirty="0"/>
              <a:t>5 . Scalable System.</a:t>
            </a:r>
          </a:p>
          <a:p>
            <a:endParaRPr lang="en-IN" sz="3200" b="1" dirty="0">
              <a:solidFill>
                <a:srgbClr val="0033CC"/>
              </a:solidFill>
            </a:endParaRPr>
          </a:p>
          <a:p>
            <a:r>
              <a:rPr lang="en-US" sz="3200" b="1" dirty="0">
                <a:solidFill>
                  <a:srgbClr val="0033CC"/>
                </a:solidFill>
              </a:rPr>
              <a:t>Limitations:</a:t>
            </a:r>
          </a:p>
          <a:p>
            <a:endParaRPr lang="en-US" sz="3200" b="1" dirty="0">
              <a:solidFill>
                <a:srgbClr val="0033CC"/>
              </a:solidFill>
            </a:endParaRPr>
          </a:p>
          <a:p>
            <a:r>
              <a:rPr lang="en-IN" sz="3200" dirty="0"/>
              <a:t>1 . Requires Stable Internet Connection.</a:t>
            </a:r>
          </a:p>
          <a:p>
            <a:r>
              <a:rPr lang="en-IN" sz="3200" dirty="0"/>
              <a:t>2 . WebSocket Configuration Complexity.</a:t>
            </a:r>
          </a:p>
          <a:p>
            <a:r>
              <a:rPr lang="en-US" sz="3200" dirty="0"/>
              <a:t>3 . Security Challenges in Real-Time Systems.</a:t>
            </a:r>
          </a:p>
          <a:p>
            <a:r>
              <a:rPr lang="en-IN" sz="3200" dirty="0"/>
              <a:t>4 . Server Load Handling Required.</a:t>
            </a:r>
            <a:endParaRPr lang="en-US" sz="3200" b="1" dirty="0">
              <a:solidFill>
                <a:srgbClr val="0033CC"/>
              </a:solidFill>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518</TotalTime>
  <Words>853</Words>
  <Application>Microsoft Office PowerPoint</Application>
  <PresentationFormat>Custom</PresentationFormat>
  <Paragraphs>238</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Arial</vt:lpstr>
      <vt:lpstr>Times New Roman</vt:lpstr>
      <vt:lpstr>Gotham</vt:lpstr>
      <vt:lpstr>Bookman Old Style</vt:lpstr>
      <vt:lpstr>Calibri</vt:lpstr>
      <vt:lpstr>Wingdings</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madhu thatiparthi</cp:lastModifiedBy>
  <cp:revision>14</cp:revision>
  <dcterms:created xsi:type="dcterms:W3CDTF">2006-08-16T00:00:00Z</dcterms:created>
  <dcterms:modified xsi:type="dcterms:W3CDTF">2026-05-06T03:56:15Z</dcterms:modified>
  <dc:identifier>DAHCaYqJ9OU</dc:identifier>
</cp:coreProperties>
</file>