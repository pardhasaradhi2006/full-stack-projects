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2" r:id="rId16"/>
    <p:sldId id="273" r:id="rId17"/>
    <p:sldId id="270" r:id="rId18"/>
    <p:sldId id="265" r:id="rId19"/>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51" d="100"/>
          <a:sy n="51" d="100"/>
        </p:scale>
        <p:origin x="92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769441"/>
          </a:xfrm>
          <a:prstGeom prst="rect">
            <a:avLst/>
          </a:prstGeom>
          <a:noFill/>
        </p:spPr>
        <p:txBody>
          <a:bodyPr wrap="square" rtlCol="0">
            <a:spAutoFit/>
          </a:bodyPr>
          <a:lstStyle/>
          <a:p>
            <a:pPr algn="ctr"/>
            <a:r>
              <a:rPr lang="en-US" sz="4400" b="1" dirty="0">
                <a:solidFill>
                  <a:schemeClr val="accent6"/>
                </a:solidFill>
              </a:rPr>
              <a:t>Event Registration Management Portal</a:t>
            </a:r>
            <a:endParaRPr lang="en-IN" sz="4400" b="1" dirty="0">
              <a:solidFill>
                <a:schemeClr val="accent6"/>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T. PARDHA SARADHI – VTU26578 – 23UECS0896</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Manohar- Assistant Professor </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D53F287-73CC-FA5D-5293-7241A6F90C09}"/>
              </a:ext>
            </a:extLst>
          </p:cNvPr>
          <p:cNvSpPr>
            <a:spLocks noChangeArrowheads="1"/>
          </p:cNvSpPr>
          <p:nvPr/>
        </p:nvSpPr>
        <p:spPr bwMode="auto">
          <a:xfrm>
            <a:off x="1893310" y="1471541"/>
            <a:ext cx="16166090" cy="809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Campus events play a crucial role in enhancing student engagement and skill development </a:t>
            </a:r>
          </a:p>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Colleges organize various events like technical fests, cultural programs, workshops, and seminars </a:t>
            </a:r>
          </a:p>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Managing these events manually becomes difficult as the number of participants increases </a:t>
            </a:r>
          </a:p>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Traditional methods like paper-based tickets and offline registrations are inefficient </a:t>
            </a:r>
          </a:p>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This system provides a centralized digital platform for managing all campus events </a:t>
            </a:r>
          </a:p>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Students can easily view event details, register, and book tickets online </a:t>
            </a:r>
          </a:p>
          <a:p>
            <a:pPr marL="457200" indent="-457200"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Organizers can efficiently manage event data, track registrations, and monitor participation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E2FFC559-6195-170B-6AA5-1D126DFC3E50}"/>
              </a:ext>
            </a:extLst>
          </p:cNvPr>
          <p:cNvSpPr>
            <a:spLocks noChangeArrowheads="1"/>
          </p:cNvSpPr>
          <p:nvPr/>
        </p:nvSpPr>
        <p:spPr bwMode="auto">
          <a:xfrm>
            <a:off x="1672458" y="1079913"/>
            <a:ext cx="16402982" cy="809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ticket management leads to delays and inefficiency as handling registrations manually is slow and difficult to manage.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a centralized system causes confusion since event information is scattered and not easily accessible.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Tracking registrations becomes complicated because maintaining accurate participant records manually is difficult.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are high chances of errors and data duplication since manual data entry can lead to inconsistencies.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do not receive real-time updates which causes them to miss important notifications or changes.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between organizers and participants is poor as there is no proper system to share updates efficiently.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1925319"/>
            <a:ext cx="16070179"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4000" b="1" dirty="0">
                <a:latin typeface="Times New Roman" panose="02020603050405020304" pitchFamily="18" charset="0"/>
                <a:cs typeface="Times New Roman" panose="02020603050405020304" pitchFamily="18" charset="0"/>
              </a:rPr>
              <a:t>To develop </a:t>
            </a:r>
            <a:r>
              <a:rPr lang="en-US" sz="4000" dirty="0">
                <a:latin typeface="Times New Roman" panose="02020603050405020304" pitchFamily="18" charset="0"/>
                <a:cs typeface="Times New Roman" panose="02020603050405020304" pitchFamily="18" charset="0"/>
              </a:rPr>
              <a:t>a centralized event management system where all campus events and related activities are managed efficiently in a single platform. </a:t>
            </a:r>
          </a:p>
          <a:p>
            <a:endParaRPr lang="en-US" sz="40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4000" b="1" dirty="0">
                <a:latin typeface="Times New Roman" panose="02020603050405020304" pitchFamily="18" charset="0"/>
                <a:cs typeface="Times New Roman" panose="02020603050405020304" pitchFamily="18" charset="0"/>
              </a:rPr>
              <a:t>To simplify </a:t>
            </a:r>
            <a:r>
              <a:rPr lang="en-US" sz="4000" dirty="0">
                <a:latin typeface="Times New Roman" panose="02020603050405020304" pitchFamily="18" charset="0"/>
                <a:cs typeface="Times New Roman" panose="02020603050405020304" pitchFamily="18" charset="0"/>
              </a:rPr>
              <a:t>the ticket booking process for students by providing an easy and quick online registration and booking system. </a:t>
            </a:r>
          </a:p>
          <a:p>
            <a:endParaRPr lang="en-US" sz="40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4000" b="1" dirty="0">
                <a:latin typeface="Times New Roman" panose="02020603050405020304" pitchFamily="18" charset="0"/>
                <a:cs typeface="Times New Roman" panose="02020603050405020304" pitchFamily="18" charset="0"/>
              </a:rPr>
              <a:t>To provide </a:t>
            </a:r>
            <a:r>
              <a:rPr lang="en-US" sz="4000" dirty="0">
                <a:latin typeface="Times New Roman" panose="02020603050405020304" pitchFamily="18" charset="0"/>
                <a:cs typeface="Times New Roman" panose="02020603050405020304" pitchFamily="18" charset="0"/>
              </a:rPr>
              <a:t>a user-friendly interface that ensures smooth navigation and usability for both students and administrators.</a:t>
            </a:r>
          </a:p>
          <a:p>
            <a:endParaRPr lang="en-US" sz="40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US" sz="4000" b="1" dirty="0">
                <a:latin typeface="Times New Roman" panose="02020603050405020304" pitchFamily="18" charset="0"/>
                <a:cs typeface="Times New Roman" panose="02020603050405020304" pitchFamily="18" charset="0"/>
              </a:rPr>
              <a:t>To enable </a:t>
            </a:r>
            <a:r>
              <a:rPr lang="en-US" sz="4000" dirty="0">
                <a:latin typeface="Times New Roman" panose="02020603050405020304" pitchFamily="18" charset="0"/>
                <a:cs typeface="Times New Roman" panose="02020603050405020304" pitchFamily="18" charset="0"/>
              </a:rPr>
              <a:t>real-time updates and secure data management so that users receive instant notifications and data is safely stored.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A0D2985-AF24-1727-F75B-33A4957898C0}"/>
              </a:ext>
            </a:extLst>
          </p:cNvPr>
          <p:cNvSpPr txBox="1"/>
          <p:nvPr/>
        </p:nvSpPr>
        <p:spPr>
          <a:xfrm>
            <a:off x="1767608" y="1282129"/>
            <a:ext cx="15521243" cy="3046988"/>
          </a:xfrm>
          <a:prstGeom prst="rect">
            <a:avLst/>
          </a:prstGeom>
          <a:noFill/>
        </p:spPr>
        <p:txBody>
          <a:bodyPr wrap="square">
            <a:sp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Description of the Solution: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proposed system is a web-based application that allows students to view available campus events, register, and book tickets through an online platform. It provides separate access for users and administrators, where students can easily participate in events and administrators can efficiently create, update, and manage event details using a centralized system.</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9EBB8FA-C4E2-3555-7E96-44F5A06581C6}"/>
              </a:ext>
            </a:extLst>
          </p:cNvPr>
          <p:cNvSpPr txBox="1"/>
          <p:nvPr/>
        </p:nvSpPr>
        <p:spPr>
          <a:xfrm>
            <a:off x="1775629" y="4329117"/>
            <a:ext cx="15464438" cy="2554545"/>
          </a:xfrm>
          <a:prstGeom prst="rect">
            <a:avLst/>
          </a:prstGeom>
          <a:noFill/>
        </p:spPr>
        <p:txBody>
          <a:bodyPr wrap="square">
            <a:sp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How It Solves Existing Issues: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system eliminates the need for manual paperwork by automating the entire event registration and ticket booking process, thereby reducing time and effort. It also provides a centralized platform where all event-related information is available, ensuring better accessibility, accurate data management, and real-time updates for users.</a:t>
            </a:r>
            <a:endParaRPr lang="en-IN" sz="3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C98FCB8-CE18-9F59-E44F-61DF159D3578}"/>
              </a:ext>
            </a:extLst>
          </p:cNvPr>
          <p:cNvSpPr txBox="1"/>
          <p:nvPr/>
        </p:nvSpPr>
        <p:spPr>
          <a:xfrm>
            <a:off x="1701820" y="6946785"/>
            <a:ext cx="15479660" cy="2554545"/>
          </a:xfrm>
          <a:prstGeom prst="rect">
            <a:avLst/>
          </a:prstGeom>
          <a:noFill/>
        </p:spPr>
        <p:txBody>
          <a:bodyPr wrap="square">
            <a:sp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Advantages Over Current Systems: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Compared to traditional manual systems, the proposed system is faster, more efficient, and user-friendly, as it simplifies the overall event management process. It also enhances data security, reduces errors, and ensures that all records are maintained digitally in an organized and reliable manner.</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3E1A6C-60DB-E0DB-019E-AE4B1810C1B2}"/>
              </a:ext>
            </a:extLst>
          </p:cNvPr>
          <p:cNvPicPr>
            <a:picLocks noChangeAspect="1"/>
          </p:cNvPicPr>
          <p:nvPr/>
        </p:nvPicPr>
        <p:blipFill>
          <a:blip r:embed="rId2"/>
          <a:srcRect t="483" r="4459"/>
          <a:stretch>
            <a:fillRect/>
          </a:stretch>
        </p:blipFill>
        <p:spPr>
          <a:xfrm>
            <a:off x="8210281" y="2869578"/>
            <a:ext cx="10077719" cy="5528536"/>
          </a:xfrm>
          <a:prstGeom prst="rect">
            <a:avLst/>
          </a:prstGeom>
        </p:spPr>
      </p:pic>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740EA711-465F-8593-DE8D-6943FA2C11A8}"/>
              </a:ext>
            </a:extLst>
          </p:cNvPr>
          <p:cNvSpPr txBox="1"/>
          <p:nvPr/>
        </p:nvSpPr>
        <p:spPr>
          <a:xfrm>
            <a:off x="1532709" y="1630065"/>
            <a:ext cx="7672448" cy="2308324"/>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Input: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system receives input from users such as students and administrators through actions like registration, login, browsing events, and booking tickets, where details like user information, event selection, and booking requests are provided to the system.</a:t>
            </a:r>
            <a:endParaRPr lang="en-IN" sz="24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90AF25C0-90A5-D164-6BC3-6BC2C675586C}"/>
              </a:ext>
            </a:extLst>
          </p:cNvPr>
          <p:cNvSpPr txBox="1"/>
          <p:nvPr/>
        </p:nvSpPr>
        <p:spPr>
          <a:xfrm>
            <a:off x="1507307" y="4000065"/>
            <a:ext cx="7514882" cy="2308324"/>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Processing: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backend processes user requests using Node.js and Express.js by handling authentication, managing events, and processing bookings, while interacting with the database to validate and store the required data.</a:t>
            </a:r>
          </a:p>
          <a:p>
            <a:pPr marL="34290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CB4715DE-2A56-355B-63A8-6ED14EABEC7C}"/>
              </a:ext>
            </a:extLst>
          </p:cNvPr>
          <p:cNvSpPr txBox="1"/>
          <p:nvPr/>
        </p:nvSpPr>
        <p:spPr>
          <a:xfrm>
            <a:off x="1558924" y="6020054"/>
            <a:ext cx="7354228" cy="1938992"/>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Database: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database stores all essential data including user details, event information, and booking records in an organized manner using </a:t>
            </a:r>
            <a:r>
              <a:rPr lang="en-US" sz="2400" dirty="0" err="1">
                <a:latin typeface="Times New Roman" panose="02020603050405020304" pitchFamily="18" charset="0"/>
                <a:cs typeface="Times New Roman" panose="02020603050405020304" pitchFamily="18" charset="0"/>
              </a:rPr>
              <a:t>Xamp</a:t>
            </a:r>
            <a:r>
              <a:rPr lang="en-US" sz="2400" dirty="0">
                <a:latin typeface="Times New Roman" panose="02020603050405020304" pitchFamily="18" charset="0"/>
                <a:cs typeface="Times New Roman" panose="02020603050405020304" pitchFamily="18" charset="0"/>
              </a:rPr>
              <a:t>, ensuring secure storage, easy retrieval, and efficient data management.</a:t>
            </a:r>
            <a:endParaRPr lang="en-IN" sz="24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0DD172D6-79D8-5765-64F8-344649D3085D}"/>
              </a:ext>
            </a:extLst>
          </p:cNvPr>
          <p:cNvSpPr txBox="1"/>
          <p:nvPr/>
        </p:nvSpPr>
        <p:spPr>
          <a:xfrm>
            <a:off x="1478384" y="8031031"/>
            <a:ext cx="7781098" cy="1569660"/>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Output includes event listings, registration confirmations, admin reports, and notifications. It provides users with the final results and updates generated by the system.</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6F2B30A3-BB9C-3AA7-A441-38B868883297}"/>
              </a:ext>
            </a:extLst>
          </p:cNvPr>
          <p:cNvSpPr>
            <a:spLocks noChangeArrowheads="1"/>
          </p:cNvSpPr>
          <p:nvPr/>
        </p:nvSpPr>
        <p:spPr bwMode="auto">
          <a:xfrm>
            <a:off x="1981199" y="7680162"/>
            <a:ext cx="1611630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Flow: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 Flow Diagram shows how information moves through the Academic Campus Event and Registration Portal. Students register for events, and administrators manage event details. The system processes this data, stores it in the database, and generates outputs such as confirmations, notifications, and reports.</a:t>
            </a:r>
          </a:p>
        </p:txBody>
      </p:sp>
      <p:sp>
        <p:nvSpPr>
          <p:cNvPr id="2" name="Rectangle 1">
            <a:extLst>
              <a:ext uri="{FF2B5EF4-FFF2-40B4-BE49-F238E27FC236}">
                <a16:creationId xmlns:a16="http://schemas.microsoft.com/office/drawing/2014/main" id="{D182F4A7-CE15-01C3-88B5-72EA6B4370C0}"/>
              </a:ext>
            </a:extLst>
          </p:cNvPr>
          <p:cNvSpPr/>
          <p:nvPr/>
        </p:nvSpPr>
        <p:spPr>
          <a:xfrm>
            <a:off x="5486400" y="2475171"/>
            <a:ext cx="8229600" cy="840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8FC36C6E-9344-A0BD-1D8F-BD4F4927695F}"/>
              </a:ext>
            </a:extLst>
          </p:cNvPr>
          <p:cNvSpPr/>
          <p:nvPr/>
        </p:nvSpPr>
        <p:spPr>
          <a:xfrm>
            <a:off x="13335000" y="2526154"/>
            <a:ext cx="609600" cy="3313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5D23489-9276-3171-FBFB-478913A637E8}"/>
              </a:ext>
            </a:extLst>
          </p:cNvPr>
          <p:cNvSpPr/>
          <p:nvPr/>
        </p:nvSpPr>
        <p:spPr>
          <a:xfrm>
            <a:off x="9296400" y="3100131"/>
            <a:ext cx="609600" cy="3313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66C256E1-F1D1-C792-944E-B26AF10916A8}"/>
              </a:ext>
            </a:extLst>
          </p:cNvPr>
          <p:cNvPicPr>
            <a:picLocks noChangeAspect="1"/>
          </p:cNvPicPr>
          <p:nvPr/>
        </p:nvPicPr>
        <p:blipFill>
          <a:blip r:embed="rId3"/>
          <a:stretch>
            <a:fillRect/>
          </a:stretch>
        </p:blipFill>
        <p:spPr>
          <a:xfrm>
            <a:off x="2847096" y="1766416"/>
            <a:ext cx="12850104" cy="53599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1DB518E-ED1E-D5E6-7965-FF690D4064A2}"/>
              </a:ext>
            </a:extLst>
          </p:cNvPr>
          <p:cNvSpPr txBox="1"/>
          <p:nvPr/>
        </p:nvSpPr>
        <p:spPr>
          <a:xfrm>
            <a:off x="1960804" y="1956281"/>
            <a:ext cx="15266412" cy="6494085"/>
          </a:xfrm>
          <a:prstGeom prst="rect">
            <a:avLst/>
          </a:prstGeom>
          <a:noFill/>
        </p:spPr>
        <p:txBody>
          <a:bodyPr wrap="square">
            <a:spAutoFit/>
          </a:bodyPr>
          <a:lstStyle/>
          <a:p>
            <a:pPr marL="457200" indent="-4572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Frontend:</a:t>
            </a:r>
            <a:r>
              <a:rPr lang="en-US" sz="3200" dirty="0">
                <a:latin typeface="Times New Roman" panose="02020603050405020304" pitchFamily="18" charset="0"/>
                <a:cs typeface="Times New Roman" panose="02020603050405020304" pitchFamily="18" charset="0"/>
              </a:rPr>
              <a:t> React.js (</a:t>
            </a:r>
            <a:r>
              <a:rPr lang="en-US" sz="3200" dirty="0" err="1">
                <a:latin typeface="Times New Roman" panose="02020603050405020304" pitchFamily="18" charset="0"/>
                <a:cs typeface="Times New Roman" panose="02020603050405020304" pitchFamily="18" charset="0"/>
              </a:rPr>
              <a:t>App.jsx</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main.jsx</a:t>
            </a:r>
            <a:r>
              <a:rPr lang="en-US" sz="3200" dirty="0">
                <a:latin typeface="Times New Roman" panose="02020603050405020304" pitchFamily="18" charset="0"/>
                <a:cs typeface="Times New Roman" panose="02020603050405020304" pitchFamily="18" charset="0"/>
              </a:rPr>
              <a:t>) was used to build the user interface and manage components, CSS (App.css, index.css) was used for styling, and Vite was used as the build tool for faster development and rendering.</a:t>
            </a:r>
          </a:p>
          <a:p>
            <a:pPr marL="457200" indent="-4572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Backend:</a:t>
            </a:r>
            <a:r>
              <a:rPr lang="en-US" sz="3200" dirty="0">
                <a:latin typeface="Times New Roman" panose="02020603050405020304" pitchFamily="18" charset="0"/>
                <a:cs typeface="Times New Roman" panose="02020603050405020304" pitchFamily="18" charset="0"/>
              </a:rPr>
              <a:t> Node.js (backend/server.js) was used for server-side execution, and Express.js was used to handle API routes such as user authentication, event management, and ticket booking operations.</a:t>
            </a:r>
          </a:p>
          <a:p>
            <a:pPr marL="457200" indent="-4572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Database:</a:t>
            </a:r>
            <a:r>
              <a:rPr lang="en-US" sz="3200" dirty="0">
                <a:latin typeface="Times New Roman" panose="02020603050405020304" pitchFamily="18" charset="0"/>
                <a:cs typeface="Times New Roman" panose="02020603050405020304" pitchFamily="18" charset="0"/>
              </a:rPr>
              <a:t> MySQL Server was used to store and manipulate live event details alongside student registration data securely natively.</a:t>
            </a:r>
          </a:p>
          <a:p>
            <a:pPr marL="457200" indent="-4572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Tools:</a:t>
            </a:r>
            <a:r>
              <a:rPr lang="en-US" sz="3200" dirty="0">
                <a:latin typeface="Times New Roman" panose="02020603050405020304" pitchFamily="18" charset="0"/>
                <a:cs typeface="Times New Roman" panose="02020603050405020304" pitchFamily="18" charset="0"/>
              </a:rPr>
              <a:t> Visual Studio Code was used as the primary coding editor, and Node Package Manager (</a:t>
            </a:r>
            <a:r>
              <a:rPr lang="en-US" sz="3200" dirty="0" err="1">
                <a:latin typeface="Times New Roman" panose="02020603050405020304" pitchFamily="18" charset="0"/>
                <a:cs typeface="Times New Roman" panose="02020603050405020304" pitchFamily="18" charset="0"/>
              </a:rPr>
              <a:t>npm</a:t>
            </a:r>
            <a:r>
              <a:rPr lang="en-US" sz="3200" dirty="0">
                <a:latin typeface="Times New Roman" panose="02020603050405020304" pitchFamily="18" charset="0"/>
                <a:cs typeface="Times New Roman" panose="02020603050405020304" pitchFamily="18" charset="0"/>
              </a:rPr>
              <a:t>) was used to configure and track dependencies.</a:t>
            </a:r>
          </a:p>
          <a:p>
            <a:pPr marL="457200" indent="-4572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Software Requirements:</a:t>
            </a:r>
            <a:r>
              <a:rPr lang="en-US" sz="3200" dirty="0">
                <a:latin typeface="Times New Roman" panose="02020603050405020304" pitchFamily="18" charset="0"/>
                <a:cs typeface="Times New Roman" panose="02020603050405020304" pitchFamily="18" charset="0"/>
              </a:rPr>
              <a:t> A modern web browser (Google Chrome/Edge), a local Node.js engine installed for executing the backend framework, and a standalone instance of MySQL Server running in the background.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A8E51AA-7705-A44F-914A-B1812E524170}"/>
              </a:ext>
            </a:extLst>
          </p:cNvPr>
          <p:cNvSpPr txBox="1"/>
          <p:nvPr/>
        </p:nvSpPr>
        <p:spPr>
          <a:xfrm>
            <a:off x="1775691" y="1612265"/>
            <a:ext cx="15418812" cy="7478970"/>
          </a:xfrm>
          <a:prstGeom prst="rect">
            <a:avLst/>
          </a:prstGeom>
          <a:noFill/>
        </p:spPr>
        <p:txBody>
          <a:bodyPr wrap="square">
            <a:spAutoFit/>
          </a:bodyPr>
          <a:lstStyle/>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Module 1: </a:t>
            </a:r>
            <a:r>
              <a:rPr lang="en-IN" sz="3200" b="1" dirty="0">
                <a:latin typeface="Times New Roman" panose="02020603050405020304" pitchFamily="18" charset="0"/>
                <a:cs typeface="Times New Roman" panose="02020603050405020304" pitchFamily="18" charset="0"/>
              </a:rPr>
              <a:t>User Authentication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Handles user registration and login functionality for both students and administrators. It ensures secure access by validating user credentials before allowing access to the system.</a:t>
            </a:r>
          </a:p>
          <a:p>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Module 2: </a:t>
            </a:r>
            <a:r>
              <a:rPr lang="en-IN" sz="3200" b="1" dirty="0">
                <a:latin typeface="Times New Roman" panose="02020603050405020304" pitchFamily="18" charset="0"/>
                <a:cs typeface="Times New Roman" panose="02020603050405020304" pitchFamily="18" charset="0"/>
              </a:rPr>
              <a:t>Event Management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Handles creation, updating, and display of event details. Administrators can add new events, edit information, and manage event listings efficiently.</a:t>
            </a:r>
          </a:p>
          <a:p>
            <a:pPr marL="457200" indent="-457200">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Module 3: </a:t>
            </a:r>
            <a:r>
              <a:rPr lang="en-IN" sz="3200" b="1" dirty="0">
                <a:latin typeface="Times New Roman" panose="02020603050405020304" pitchFamily="18" charset="0"/>
                <a:cs typeface="Times New Roman" panose="02020603050405020304" pitchFamily="18" charset="0"/>
              </a:rPr>
              <a:t>Ticket Booking</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Allows students to browse events and book tickets by selecting desired events. It ensures proper validation and stores booking details securely in the system.</a:t>
            </a:r>
          </a:p>
          <a:p>
            <a:pPr marL="457200" indent="-457200">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Module 4: </a:t>
            </a:r>
            <a:r>
              <a:rPr lang="en-IN" sz="3200" b="1" dirty="0">
                <a:latin typeface="Times New Roman" panose="02020603050405020304" pitchFamily="18" charset="0"/>
                <a:cs typeface="Times New Roman" panose="02020603050405020304" pitchFamily="18" charset="0"/>
              </a:rPr>
              <a:t>Database Management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Manages storage and retrieval of user data, event details, and booking information. Ensures data consistency, accuracy, and secure database operations.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25A1C5F-2DE8-9808-8887-7EF7FE37643F}"/>
              </a:ext>
            </a:extLst>
          </p:cNvPr>
          <p:cNvPicPr>
            <a:picLocks noChangeAspect="1"/>
          </p:cNvPicPr>
          <p:nvPr/>
        </p:nvPicPr>
        <p:blipFill>
          <a:blip r:embed="rId3"/>
          <a:stretch>
            <a:fillRect/>
          </a:stretch>
        </p:blipFill>
        <p:spPr>
          <a:xfrm>
            <a:off x="2454963" y="3162300"/>
            <a:ext cx="13318437" cy="6328719"/>
          </a:xfrm>
          <a:prstGeom prst="rect">
            <a:avLst/>
          </a:prstGeom>
        </p:spPr>
      </p:pic>
      <p:sp>
        <p:nvSpPr>
          <p:cNvPr id="6" name="TextBox 5">
            <a:extLst>
              <a:ext uri="{FF2B5EF4-FFF2-40B4-BE49-F238E27FC236}">
                <a16:creationId xmlns:a16="http://schemas.microsoft.com/office/drawing/2014/main" id="{316D1C66-2DF2-F355-D6A8-ACF8FE43F5A3}"/>
              </a:ext>
            </a:extLst>
          </p:cNvPr>
          <p:cNvSpPr txBox="1"/>
          <p:nvPr/>
        </p:nvSpPr>
        <p:spPr>
          <a:xfrm>
            <a:off x="2537127" y="1866900"/>
            <a:ext cx="3849259"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Login Screen:</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8685FB0-7646-9690-BAD2-C02E284AF0A1}"/>
              </a:ext>
            </a:extLst>
          </p:cNvPr>
          <p:cNvSpPr txBox="1"/>
          <p:nvPr/>
        </p:nvSpPr>
        <p:spPr>
          <a:xfrm>
            <a:off x="2537127" y="1866900"/>
            <a:ext cx="5363969"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Admin Perspective:</a:t>
            </a:r>
            <a:endParaRPr lang="en-IN" sz="4800" b="1"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598977D8-45C6-6748-5AE9-5A76CF5D3036}"/>
              </a:ext>
            </a:extLst>
          </p:cNvPr>
          <p:cNvPicPr>
            <a:picLocks noChangeAspect="1"/>
          </p:cNvPicPr>
          <p:nvPr/>
        </p:nvPicPr>
        <p:blipFill>
          <a:blip r:embed="rId3"/>
          <a:stretch>
            <a:fillRect/>
          </a:stretch>
        </p:blipFill>
        <p:spPr>
          <a:xfrm>
            <a:off x="2475898" y="3162300"/>
            <a:ext cx="13336205" cy="63324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1D6D05E3-E137-4120-8723-6FE64A81B0A4}"/>
              </a:ext>
            </a:extLst>
          </p:cNvPr>
          <p:cNvSpPr txBox="1"/>
          <p:nvPr/>
        </p:nvSpPr>
        <p:spPr>
          <a:xfrm>
            <a:off x="2538000" y="1868400"/>
            <a:ext cx="5363969"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Admin Perspective:</a:t>
            </a:r>
            <a:endParaRPr lang="en-IN" sz="4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B40245B-C2F1-70DC-5FDE-9693881C7A51}"/>
              </a:ext>
            </a:extLst>
          </p:cNvPr>
          <p:cNvPicPr>
            <a:picLocks noChangeAspect="1"/>
          </p:cNvPicPr>
          <p:nvPr/>
        </p:nvPicPr>
        <p:blipFill>
          <a:blip r:embed="rId3"/>
          <a:stretch>
            <a:fillRect/>
          </a:stretch>
        </p:blipFill>
        <p:spPr>
          <a:xfrm>
            <a:off x="2438400" y="3162300"/>
            <a:ext cx="13411200" cy="63324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5B67930-D2A8-D47E-BE44-C6D11DAB6E72}"/>
              </a:ext>
            </a:extLst>
          </p:cNvPr>
          <p:cNvPicPr>
            <a:picLocks noChangeAspect="1"/>
          </p:cNvPicPr>
          <p:nvPr/>
        </p:nvPicPr>
        <p:blipFill>
          <a:blip r:embed="rId3"/>
          <a:stretch>
            <a:fillRect/>
          </a:stretch>
        </p:blipFill>
        <p:spPr>
          <a:xfrm>
            <a:off x="2513772" y="3162300"/>
            <a:ext cx="13260457" cy="6332400"/>
          </a:xfrm>
          <a:prstGeom prst="rect">
            <a:avLst/>
          </a:prstGeom>
        </p:spPr>
      </p:pic>
      <p:sp>
        <p:nvSpPr>
          <p:cNvPr id="5" name="TextBox 4">
            <a:extLst>
              <a:ext uri="{FF2B5EF4-FFF2-40B4-BE49-F238E27FC236}">
                <a16:creationId xmlns:a16="http://schemas.microsoft.com/office/drawing/2014/main" id="{F5F822A5-BC2F-E0A6-130F-5E8A3241957F}"/>
              </a:ext>
            </a:extLst>
          </p:cNvPr>
          <p:cNvSpPr txBox="1"/>
          <p:nvPr/>
        </p:nvSpPr>
        <p:spPr>
          <a:xfrm>
            <a:off x="2537127" y="1866900"/>
            <a:ext cx="5363969"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Admin Perspective:</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7">
            <a:extLst>
              <a:ext uri="{FF2B5EF4-FFF2-40B4-BE49-F238E27FC236}">
                <a16:creationId xmlns:a16="http://schemas.microsoft.com/office/drawing/2014/main" id="{DC86B6B1-D9B0-ECA4-4FA1-62096457D6B6}"/>
              </a:ext>
            </a:extLst>
          </p:cNvPr>
          <p:cNvGrpSpPr/>
          <p:nvPr/>
        </p:nvGrpSpPr>
        <p:grpSpPr>
          <a:xfrm>
            <a:off x="735588" y="6653894"/>
            <a:ext cx="992463" cy="992463"/>
            <a:chOff x="0" y="0"/>
            <a:chExt cx="812800" cy="812800"/>
          </a:xfrm>
        </p:grpSpPr>
        <p:sp>
          <p:nvSpPr>
            <p:cNvPr id="4" name="Freeform 8">
              <a:extLst>
                <a:ext uri="{FF2B5EF4-FFF2-40B4-BE49-F238E27FC236}">
                  <a16:creationId xmlns:a16="http://schemas.microsoft.com/office/drawing/2014/main" id="{79F34DA6-ED65-3531-76AA-3D51F2625A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5" name="TextBox 9">
              <a:extLst>
                <a:ext uri="{FF2B5EF4-FFF2-40B4-BE49-F238E27FC236}">
                  <a16:creationId xmlns:a16="http://schemas.microsoft.com/office/drawing/2014/main" id="{CC911914-8499-F26F-27FD-09B067F16A5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6" name="Group 10">
            <a:extLst>
              <a:ext uri="{FF2B5EF4-FFF2-40B4-BE49-F238E27FC236}">
                <a16:creationId xmlns:a16="http://schemas.microsoft.com/office/drawing/2014/main" id="{38D662B6-6760-ECBE-26A3-E0FDFE2EECBB}"/>
              </a:ext>
            </a:extLst>
          </p:cNvPr>
          <p:cNvGrpSpPr/>
          <p:nvPr/>
        </p:nvGrpSpPr>
        <p:grpSpPr>
          <a:xfrm>
            <a:off x="977741" y="3315742"/>
            <a:ext cx="508158" cy="543805"/>
            <a:chOff x="0" y="0"/>
            <a:chExt cx="812800" cy="869819"/>
          </a:xfrm>
        </p:grpSpPr>
        <p:sp>
          <p:nvSpPr>
            <p:cNvPr id="7" name="Freeform 11">
              <a:extLst>
                <a:ext uri="{FF2B5EF4-FFF2-40B4-BE49-F238E27FC236}">
                  <a16:creationId xmlns:a16="http://schemas.microsoft.com/office/drawing/2014/main" id="{53D5F62D-AD20-83E0-199A-CBB48FBD9A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8" name="TextBox 12">
              <a:extLst>
                <a:ext uri="{FF2B5EF4-FFF2-40B4-BE49-F238E27FC236}">
                  <a16:creationId xmlns:a16="http://schemas.microsoft.com/office/drawing/2014/main" id="{47E9F8FB-C7F4-DB36-F69D-01BD458491B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9" name="Group 13">
            <a:extLst>
              <a:ext uri="{FF2B5EF4-FFF2-40B4-BE49-F238E27FC236}">
                <a16:creationId xmlns:a16="http://schemas.microsoft.com/office/drawing/2014/main" id="{8ADDF9E9-136A-5F3C-1A2F-E960CD981D11}"/>
              </a:ext>
            </a:extLst>
          </p:cNvPr>
          <p:cNvGrpSpPr/>
          <p:nvPr/>
        </p:nvGrpSpPr>
        <p:grpSpPr>
          <a:xfrm>
            <a:off x="977741" y="1982349"/>
            <a:ext cx="508158" cy="543805"/>
            <a:chOff x="0" y="0"/>
            <a:chExt cx="812800" cy="869819"/>
          </a:xfrm>
        </p:grpSpPr>
        <p:sp>
          <p:nvSpPr>
            <p:cNvPr id="10" name="Freeform 14">
              <a:extLst>
                <a:ext uri="{FF2B5EF4-FFF2-40B4-BE49-F238E27FC236}">
                  <a16:creationId xmlns:a16="http://schemas.microsoft.com/office/drawing/2014/main" id="{E6750B78-4975-4433-27B3-EB146F67CF1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1" name="TextBox 15">
              <a:extLst>
                <a:ext uri="{FF2B5EF4-FFF2-40B4-BE49-F238E27FC236}">
                  <a16:creationId xmlns:a16="http://schemas.microsoft.com/office/drawing/2014/main" id="{60EA73BB-ABD6-2096-0A5B-6121A341B9E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2" name="Group 16">
            <a:extLst>
              <a:ext uri="{FF2B5EF4-FFF2-40B4-BE49-F238E27FC236}">
                <a16:creationId xmlns:a16="http://schemas.microsoft.com/office/drawing/2014/main" id="{A0267F19-FCE8-F771-5D2D-346B908B71FC}"/>
              </a:ext>
            </a:extLst>
          </p:cNvPr>
          <p:cNvGrpSpPr/>
          <p:nvPr/>
        </p:nvGrpSpPr>
        <p:grpSpPr>
          <a:xfrm>
            <a:off x="977741" y="3983373"/>
            <a:ext cx="508158" cy="543805"/>
            <a:chOff x="0" y="0"/>
            <a:chExt cx="812800" cy="869819"/>
          </a:xfrm>
        </p:grpSpPr>
        <p:sp>
          <p:nvSpPr>
            <p:cNvPr id="13" name="Freeform 17">
              <a:extLst>
                <a:ext uri="{FF2B5EF4-FFF2-40B4-BE49-F238E27FC236}">
                  <a16:creationId xmlns:a16="http://schemas.microsoft.com/office/drawing/2014/main" id="{30E979DF-782F-ADF6-F6C4-20FDE1C57BE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8">
              <a:extLst>
                <a:ext uri="{FF2B5EF4-FFF2-40B4-BE49-F238E27FC236}">
                  <a16:creationId xmlns:a16="http://schemas.microsoft.com/office/drawing/2014/main" id="{265C4A8A-D519-F6C9-D2D9-13F5FA0530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9">
            <a:extLst>
              <a:ext uri="{FF2B5EF4-FFF2-40B4-BE49-F238E27FC236}">
                <a16:creationId xmlns:a16="http://schemas.microsoft.com/office/drawing/2014/main" id="{17D82E6E-29B4-3766-75A2-DEC486F9738D}"/>
              </a:ext>
            </a:extLst>
          </p:cNvPr>
          <p:cNvGrpSpPr/>
          <p:nvPr/>
        </p:nvGrpSpPr>
        <p:grpSpPr>
          <a:xfrm>
            <a:off x="977741" y="2648112"/>
            <a:ext cx="508158" cy="543805"/>
            <a:chOff x="0" y="0"/>
            <a:chExt cx="812800" cy="869819"/>
          </a:xfrm>
        </p:grpSpPr>
        <p:sp>
          <p:nvSpPr>
            <p:cNvPr id="16" name="Freeform 20">
              <a:extLst>
                <a:ext uri="{FF2B5EF4-FFF2-40B4-BE49-F238E27FC236}">
                  <a16:creationId xmlns:a16="http://schemas.microsoft.com/office/drawing/2014/main" id="{4434F067-E6ED-67EE-749E-CC179AE001E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21">
              <a:extLst>
                <a:ext uri="{FF2B5EF4-FFF2-40B4-BE49-F238E27FC236}">
                  <a16:creationId xmlns:a16="http://schemas.microsoft.com/office/drawing/2014/main" id="{70D12A41-035D-ADD7-952B-FEB1448D60A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22">
            <a:extLst>
              <a:ext uri="{FF2B5EF4-FFF2-40B4-BE49-F238E27FC236}">
                <a16:creationId xmlns:a16="http://schemas.microsoft.com/office/drawing/2014/main" id="{9D611917-98BF-BD89-E43A-520B8449723E}"/>
              </a:ext>
            </a:extLst>
          </p:cNvPr>
          <p:cNvGrpSpPr/>
          <p:nvPr/>
        </p:nvGrpSpPr>
        <p:grpSpPr>
          <a:xfrm>
            <a:off x="977741" y="5318634"/>
            <a:ext cx="508158" cy="543805"/>
            <a:chOff x="0" y="0"/>
            <a:chExt cx="812800" cy="869819"/>
          </a:xfrm>
        </p:grpSpPr>
        <p:sp>
          <p:nvSpPr>
            <p:cNvPr id="19" name="Freeform 23">
              <a:extLst>
                <a:ext uri="{FF2B5EF4-FFF2-40B4-BE49-F238E27FC236}">
                  <a16:creationId xmlns:a16="http://schemas.microsoft.com/office/drawing/2014/main" id="{3C9830AA-4F4F-82A8-7480-26EA62FE83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4">
              <a:extLst>
                <a:ext uri="{FF2B5EF4-FFF2-40B4-BE49-F238E27FC236}">
                  <a16:creationId xmlns:a16="http://schemas.microsoft.com/office/drawing/2014/main" id="{4056BA14-3393-0563-8215-8B3895C2975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1" name="Group 25">
            <a:extLst>
              <a:ext uri="{FF2B5EF4-FFF2-40B4-BE49-F238E27FC236}">
                <a16:creationId xmlns:a16="http://schemas.microsoft.com/office/drawing/2014/main" id="{4A00CE44-4196-4A37-7BCA-FF16B15DDFFA}"/>
              </a:ext>
            </a:extLst>
          </p:cNvPr>
          <p:cNvGrpSpPr/>
          <p:nvPr/>
        </p:nvGrpSpPr>
        <p:grpSpPr>
          <a:xfrm>
            <a:off x="977741" y="4651003"/>
            <a:ext cx="508158" cy="543805"/>
            <a:chOff x="0" y="0"/>
            <a:chExt cx="812800" cy="869819"/>
          </a:xfrm>
        </p:grpSpPr>
        <p:sp>
          <p:nvSpPr>
            <p:cNvPr id="22" name="Freeform 26">
              <a:extLst>
                <a:ext uri="{FF2B5EF4-FFF2-40B4-BE49-F238E27FC236}">
                  <a16:creationId xmlns:a16="http://schemas.microsoft.com/office/drawing/2014/main" id="{CF4417F8-3393-8C34-DB13-A510CF2D7B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7">
              <a:extLst>
                <a:ext uri="{FF2B5EF4-FFF2-40B4-BE49-F238E27FC236}">
                  <a16:creationId xmlns:a16="http://schemas.microsoft.com/office/drawing/2014/main" id="{003FABA0-10FA-0FE3-E870-2FAA435DCB9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4" name="Group 28">
            <a:extLst>
              <a:ext uri="{FF2B5EF4-FFF2-40B4-BE49-F238E27FC236}">
                <a16:creationId xmlns:a16="http://schemas.microsoft.com/office/drawing/2014/main" id="{C7E405DB-F70F-D6D6-2AED-C6D433570889}"/>
              </a:ext>
            </a:extLst>
          </p:cNvPr>
          <p:cNvGrpSpPr/>
          <p:nvPr/>
        </p:nvGrpSpPr>
        <p:grpSpPr>
          <a:xfrm>
            <a:off x="977741" y="5986264"/>
            <a:ext cx="508158" cy="543805"/>
            <a:chOff x="0" y="0"/>
            <a:chExt cx="812800" cy="869819"/>
          </a:xfrm>
        </p:grpSpPr>
        <p:sp>
          <p:nvSpPr>
            <p:cNvPr id="25" name="Freeform 29">
              <a:extLst>
                <a:ext uri="{FF2B5EF4-FFF2-40B4-BE49-F238E27FC236}">
                  <a16:creationId xmlns:a16="http://schemas.microsoft.com/office/drawing/2014/main" id="{F6F35A17-ADD8-2B61-B7A2-92428CD37A7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30">
              <a:extLst>
                <a:ext uri="{FF2B5EF4-FFF2-40B4-BE49-F238E27FC236}">
                  <a16:creationId xmlns:a16="http://schemas.microsoft.com/office/drawing/2014/main" id="{EC104C76-A37D-979C-4433-E89F858CB6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31">
            <a:extLst>
              <a:ext uri="{FF2B5EF4-FFF2-40B4-BE49-F238E27FC236}">
                <a16:creationId xmlns:a16="http://schemas.microsoft.com/office/drawing/2014/main" id="{05044454-2365-0FAF-41BC-F067087D3CB4}"/>
              </a:ext>
            </a:extLst>
          </p:cNvPr>
          <p:cNvGrpSpPr/>
          <p:nvPr/>
        </p:nvGrpSpPr>
        <p:grpSpPr>
          <a:xfrm>
            <a:off x="977741" y="7760846"/>
            <a:ext cx="508158" cy="543805"/>
            <a:chOff x="0" y="0"/>
            <a:chExt cx="812800" cy="869819"/>
          </a:xfrm>
        </p:grpSpPr>
        <p:sp>
          <p:nvSpPr>
            <p:cNvPr id="28" name="Freeform 32">
              <a:extLst>
                <a:ext uri="{FF2B5EF4-FFF2-40B4-BE49-F238E27FC236}">
                  <a16:creationId xmlns:a16="http://schemas.microsoft.com/office/drawing/2014/main" id="{F5ADEEAF-059F-ABE2-B6E0-D761D84BE31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33">
              <a:extLst>
                <a:ext uri="{FF2B5EF4-FFF2-40B4-BE49-F238E27FC236}">
                  <a16:creationId xmlns:a16="http://schemas.microsoft.com/office/drawing/2014/main" id="{5E00904B-DFD1-E6AD-9922-38D105DB0E0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0" name="Freeform 34">
            <a:extLst>
              <a:ext uri="{FF2B5EF4-FFF2-40B4-BE49-F238E27FC236}">
                <a16:creationId xmlns:a16="http://schemas.microsoft.com/office/drawing/2014/main" id="{A037EFA2-478C-A75C-3D2F-7102FD05E46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1" name="TextBox 30">
            <a:extLst>
              <a:ext uri="{FF2B5EF4-FFF2-40B4-BE49-F238E27FC236}">
                <a16:creationId xmlns:a16="http://schemas.microsoft.com/office/drawing/2014/main" id="{522EDD4C-802E-070A-2171-49B0D7025A8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19C18444-DD48-40F7-0C28-0E8E1F3988BC}"/>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4" name="TextBox 33">
            <a:extLst>
              <a:ext uri="{FF2B5EF4-FFF2-40B4-BE49-F238E27FC236}">
                <a16:creationId xmlns:a16="http://schemas.microsoft.com/office/drawing/2014/main" id="{5B1B19C3-30C3-4D6B-2C70-75C21FD1BA81}"/>
              </a:ext>
            </a:extLst>
          </p:cNvPr>
          <p:cNvSpPr txBox="1"/>
          <p:nvPr/>
        </p:nvSpPr>
        <p:spPr>
          <a:xfrm>
            <a:off x="2537127" y="1866900"/>
            <a:ext cx="4766177"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User Perspective:</a:t>
            </a:r>
            <a:endParaRPr lang="en-IN" sz="4800" b="1"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290F6B5B-10DC-6592-60EC-64F1D7C7EF77}"/>
              </a:ext>
            </a:extLst>
          </p:cNvPr>
          <p:cNvPicPr>
            <a:picLocks noChangeAspect="1"/>
          </p:cNvPicPr>
          <p:nvPr/>
        </p:nvPicPr>
        <p:blipFill>
          <a:blip r:embed="rId3"/>
          <a:stretch>
            <a:fillRect/>
          </a:stretch>
        </p:blipFill>
        <p:spPr>
          <a:xfrm>
            <a:off x="2494980" y="3162300"/>
            <a:ext cx="13298041" cy="6332400"/>
          </a:xfrm>
          <a:prstGeom prst="rect">
            <a:avLst/>
          </a:prstGeom>
        </p:spPr>
      </p:pic>
    </p:spTree>
    <p:extLst>
      <p:ext uri="{BB962C8B-B14F-4D97-AF65-F5344CB8AC3E}">
        <p14:creationId xmlns:p14="http://schemas.microsoft.com/office/powerpoint/2010/main" val="3438634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F4C7FADB-83A5-7148-0EFE-F73E7DFDA281}"/>
              </a:ext>
            </a:extLst>
          </p:cNvPr>
          <p:cNvGrpSpPr/>
          <p:nvPr/>
        </p:nvGrpSpPr>
        <p:grpSpPr>
          <a:xfrm>
            <a:off x="735588" y="6653894"/>
            <a:ext cx="992463" cy="992463"/>
            <a:chOff x="0" y="0"/>
            <a:chExt cx="812800" cy="812800"/>
          </a:xfrm>
        </p:grpSpPr>
        <p:sp>
          <p:nvSpPr>
            <p:cNvPr id="3" name="Freeform 8">
              <a:extLst>
                <a:ext uri="{FF2B5EF4-FFF2-40B4-BE49-F238E27FC236}">
                  <a16:creationId xmlns:a16="http://schemas.microsoft.com/office/drawing/2014/main" id="{D96E5A6A-A83B-C0EF-0A99-698030D601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4" name="TextBox 9">
              <a:extLst>
                <a:ext uri="{FF2B5EF4-FFF2-40B4-BE49-F238E27FC236}">
                  <a16:creationId xmlns:a16="http://schemas.microsoft.com/office/drawing/2014/main" id="{204ED4DF-BC95-8CE8-B09F-7DAD52042260}"/>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5" name="Group 10">
            <a:extLst>
              <a:ext uri="{FF2B5EF4-FFF2-40B4-BE49-F238E27FC236}">
                <a16:creationId xmlns:a16="http://schemas.microsoft.com/office/drawing/2014/main" id="{DC915284-5571-C5F8-A23F-64DCD501403F}"/>
              </a:ext>
            </a:extLst>
          </p:cNvPr>
          <p:cNvGrpSpPr/>
          <p:nvPr/>
        </p:nvGrpSpPr>
        <p:grpSpPr>
          <a:xfrm>
            <a:off x="977741" y="3315742"/>
            <a:ext cx="508158" cy="543805"/>
            <a:chOff x="0" y="0"/>
            <a:chExt cx="812800" cy="869819"/>
          </a:xfrm>
        </p:grpSpPr>
        <p:sp>
          <p:nvSpPr>
            <p:cNvPr id="6" name="Freeform 11">
              <a:extLst>
                <a:ext uri="{FF2B5EF4-FFF2-40B4-BE49-F238E27FC236}">
                  <a16:creationId xmlns:a16="http://schemas.microsoft.com/office/drawing/2014/main" id="{C1674DBC-6057-4CB8-D96F-2158F8F475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7" name="TextBox 12">
              <a:extLst>
                <a:ext uri="{FF2B5EF4-FFF2-40B4-BE49-F238E27FC236}">
                  <a16:creationId xmlns:a16="http://schemas.microsoft.com/office/drawing/2014/main" id="{67C022E3-6750-B5E4-1553-CF644778634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8" name="Group 13">
            <a:extLst>
              <a:ext uri="{FF2B5EF4-FFF2-40B4-BE49-F238E27FC236}">
                <a16:creationId xmlns:a16="http://schemas.microsoft.com/office/drawing/2014/main" id="{D1AA2E04-DE64-A58A-6FE6-7C2D42DDFFB3}"/>
              </a:ext>
            </a:extLst>
          </p:cNvPr>
          <p:cNvGrpSpPr/>
          <p:nvPr/>
        </p:nvGrpSpPr>
        <p:grpSpPr>
          <a:xfrm>
            <a:off x="977741" y="1982349"/>
            <a:ext cx="508158" cy="543805"/>
            <a:chOff x="0" y="0"/>
            <a:chExt cx="812800" cy="869819"/>
          </a:xfrm>
        </p:grpSpPr>
        <p:sp>
          <p:nvSpPr>
            <p:cNvPr id="9" name="Freeform 14">
              <a:extLst>
                <a:ext uri="{FF2B5EF4-FFF2-40B4-BE49-F238E27FC236}">
                  <a16:creationId xmlns:a16="http://schemas.microsoft.com/office/drawing/2014/main" id="{060342AC-4CCB-3E54-EF5A-BC5B99DC2A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5">
              <a:extLst>
                <a:ext uri="{FF2B5EF4-FFF2-40B4-BE49-F238E27FC236}">
                  <a16:creationId xmlns:a16="http://schemas.microsoft.com/office/drawing/2014/main" id="{F8B3FDBF-0338-9E39-F2E1-D72A6C32D0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1" name="Group 16">
            <a:extLst>
              <a:ext uri="{FF2B5EF4-FFF2-40B4-BE49-F238E27FC236}">
                <a16:creationId xmlns:a16="http://schemas.microsoft.com/office/drawing/2014/main" id="{AA935F44-6DDD-9473-F742-400F3CB9972C}"/>
              </a:ext>
            </a:extLst>
          </p:cNvPr>
          <p:cNvGrpSpPr/>
          <p:nvPr/>
        </p:nvGrpSpPr>
        <p:grpSpPr>
          <a:xfrm>
            <a:off x="977741" y="3983373"/>
            <a:ext cx="508158" cy="543805"/>
            <a:chOff x="0" y="0"/>
            <a:chExt cx="812800" cy="869819"/>
          </a:xfrm>
        </p:grpSpPr>
        <p:sp>
          <p:nvSpPr>
            <p:cNvPr id="12" name="Freeform 17">
              <a:extLst>
                <a:ext uri="{FF2B5EF4-FFF2-40B4-BE49-F238E27FC236}">
                  <a16:creationId xmlns:a16="http://schemas.microsoft.com/office/drawing/2014/main" id="{F29EC70C-DCDD-F6AA-934C-CBB3578C88E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8">
              <a:extLst>
                <a:ext uri="{FF2B5EF4-FFF2-40B4-BE49-F238E27FC236}">
                  <a16:creationId xmlns:a16="http://schemas.microsoft.com/office/drawing/2014/main" id="{7BBE9C7D-28DE-77F0-11AC-23BEF3F5C7E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4" name="Group 19">
            <a:extLst>
              <a:ext uri="{FF2B5EF4-FFF2-40B4-BE49-F238E27FC236}">
                <a16:creationId xmlns:a16="http://schemas.microsoft.com/office/drawing/2014/main" id="{B75F355E-1BA4-D4B9-C2C2-593C6E7515AD}"/>
              </a:ext>
            </a:extLst>
          </p:cNvPr>
          <p:cNvGrpSpPr/>
          <p:nvPr/>
        </p:nvGrpSpPr>
        <p:grpSpPr>
          <a:xfrm>
            <a:off x="977741" y="2648112"/>
            <a:ext cx="508158" cy="543805"/>
            <a:chOff x="0" y="0"/>
            <a:chExt cx="812800" cy="869819"/>
          </a:xfrm>
        </p:grpSpPr>
        <p:sp>
          <p:nvSpPr>
            <p:cNvPr id="15" name="Freeform 20">
              <a:extLst>
                <a:ext uri="{FF2B5EF4-FFF2-40B4-BE49-F238E27FC236}">
                  <a16:creationId xmlns:a16="http://schemas.microsoft.com/office/drawing/2014/main" id="{F9C712C2-EB30-055A-9AC0-A12A3F38122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21">
              <a:extLst>
                <a:ext uri="{FF2B5EF4-FFF2-40B4-BE49-F238E27FC236}">
                  <a16:creationId xmlns:a16="http://schemas.microsoft.com/office/drawing/2014/main" id="{CD5771CD-D616-4374-FEEF-E73B886B303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7" name="Group 22">
            <a:extLst>
              <a:ext uri="{FF2B5EF4-FFF2-40B4-BE49-F238E27FC236}">
                <a16:creationId xmlns:a16="http://schemas.microsoft.com/office/drawing/2014/main" id="{5F95BC8D-7E21-01B5-53D9-56D2EE8078FE}"/>
              </a:ext>
            </a:extLst>
          </p:cNvPr>
          <p:cNvGrpSpPr/>
          <p:nvPr/>
        </p:nvGrpSpPr>
        <p:grpSpPr>
          <a:xfrm>
            <a:off x="977741" y="5318634"/>
            <a:ext cx="508158" cy="543805"/>
            <a:chOff x="0" y="0"/>
            <a:chExt cx="812800" cy="869819"/>
          </a:xfrm>
        </p:grpSpPr>
        <p:sp>
          <p:nvSpPr>
            <p:cNvPr id="18" name="Freeform 23">
              <a:extLst>
                <a:ext uri="{FF2B5EF4-FFF2-40B4-BE49-F238E27FC236}">
                  <a16:creationId xmlns:a16="http://schemas.microsoft.com/office/drawing/2014/main" id="{E8ED72F9-EBD1-9EA6-AB4E-BC2A2153171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24">
              <a:extLst>
                <a:ext uri="{FF2B5EF4-FFF2-40B4-BE49-F238E27FC236}">
                  <a16:creationId xmlns:a16="http://schemas.microsoft.com/office/drawing/2014/main" id="{C5E2C582-83E8-267C-2E46-0DCB93B21AF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0" name="Group 25">
            <a:extLst>
              <a:ext uri="{FF2B5EF4-FFF2-40B4-BE49-F238E27FC236}">
                <a16:creationId xmlns:a16="http://schemas.microsoft.com/office/drawing/2014/main" id="{D9281360-5B4A-383F-73FD-366F51171871}"/>
              </a:ext>
            </a:extLst>
          </p:cNvPr>
          <p:cNvGrpSpPr/>
          <p:nvPr/>
        </p:nvGrpSpPr>
        <p:grpSpPr>
          <a:xfrm>
            <a:off x="977741" y="4651003"/>
            <a:ext cx="508158" cy="543805"/>
            <a:chOff x="0" y="0"/>
            <a:chExt cx="812800" cy="869819"/>
          </a:xfrm>
        </p:grpSpPr>
        <p:sp>
          <p:nvSpPr>
            <p:cNvPr id="21" name="Freeform 26">
              <a:extLst>
                <a:ext uri="{FF2B5EF4-FFF2-40B4-BE49-F238E27FC236}">
                  <a16:creationId xmlns:a16="http://schemas.microsoft.com/office/drawing/2014/main" id="{E4FE5962-3855-D6FA-5EDC-73BE35303AE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7">
              <a:extLst>
                <a:ext uri="{FF2B5EF4-FFF2-40B4-BE49-F238E27FC236}">
                  <a16:creationId xmlns:a16="http://schemas.microsoft.com/office/drawing/2014/main" id="{1E7E9CBC-1946-CFAA-F1F3-D0255BBCD73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8">
            <a:extLst>
              <a:ext uri="{FF2B5EF4-FFF2-40B4-BE49-F238E27FC236}">
                <a16:creationId xmlns:a16="http://schemas.microsoft.com/office/drawing/2014/main" id="{61233694-E1CA-D289-F34B-420F5681854C}"/>
              </a:ext>
            </a:extLst>
          </p:cNvPr>
          <p:cNvGrpSpPr/>
          <p:nvPr/>
        </p:nvGrpSpPr>
        <p:grpSpPr>
          <a:xfrm>
            <a:off x="977741" y="5986264"/>
            <a:ext cx="508158" cy="543805"/>
            <a:chOff x="0" y="0"/>
            <a:chExt cx="812800" cy="869819"/>
          </a:xfrm>
        </p:grpSpPr>
        <p:sp>
          <p:nvSpPr>
            <p:cNvPr id="24" name="Freeform 29">
              <a:extLst>
                <a:ext uri="{FF2B5EF4-FFF2-40B4-BE49-F238E27FC236}">
                  <a16:creationId xmlns:a16="http://schemas.microsoft.com/office/drawing/2014/main" id="{FB56C1FD-D3C4-3997-470F-6ADE770A5CF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30">
              <a:extLst>
                <a:ext uri="{FF2B5EF4-FFF2-40B4-BE49-F238E27FC236}">
                  <a16:creationId xmlns:a16="http://schemas.microsoft.com/office/drawing/2014/main" id="{E7BFBB3D-8CE8-5EEB-5975-B60B0EDACCA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6" name="Group 31">
            <a:extLst>
              <a:ext uri="{FF2B5EF4-FFF2-40B4-BE49-F238E27FC236}">
                <a16:creationId xmlns:a16="http://schemas.microsoft.com/office/drawing/2014/main" id="{CE85E256-88C6-248F-EF3E-E271B93532C4}"/>
              </a:ext>
            </a:extLst>
          </p:cNvPr>
          <p:cNvGrpSpPr/>
          <p:nvPr/>
        </p:nvGrpSpPr>
        <p:grpSpPr>
          <a:xfrm>
            <a:off x="977741" y="7760846"/>
            <a:ext cx="508158" cy="543805"/>
            <a:chOff x="0" y="0"/>
            <a:chExt cx="812800" cy="869819"/>
          </a:xfrm>
        </p:grpSpPr>
        <p:sp>
          <p:nvSpPr>
            <p:cNvPr id="27" name="Freeform 32">
              <a:extLst>
                <a:ext uri="{FF2B5EF4-FFF2-40B4-BE49-F238E27FC236}">
                  <a16:creationId xmlns:a16="http://schemas.microsoft.com/office/drawing/2014/main" id="{A3BDE1EB-E684-33E7-CB24-133682DF80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33">
              <a:extLst>
                <a:ext uri="{FF2B5EF4-FFF2-40B4-BE49-F238E27FC236}">
                  <a16:creationId xmlns:a16="http://schemas.microsoft.com/office/drawing/2014/main" id="{CD638DDB-2246-37C2-9801-8DE92F7B97E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9" name="Freeform 34">
            <a:extLst>
              <a:ext uri="{FF2B5EF4-FFF2-40B4-BE49-F238E27FC236}">
                <a16:creationId xmlns:a16="http://schemas.microsoft.com/office/drawing/2014/main" id="{0B7DE160-7EA7-623A-9C8F-6832A2F50946}"/>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0" name="TextBox 29">
            <a:extLst>
              <a:ext uri="{FF2B5EF4-FFF2-40B4-BE49-F238E27FC236}">
                <a16:creationId xmlns:a16="http://schemas.microsoft.com/office/drawing/2014/main" id="{5A723287-789C-424C-76F8-F7F4EF740BC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E4D12F28-C79A-0F71-5C26-72057621378D}"/>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2" name="TextBox 31">
            <a:extLst>
              <a:ext uri="{FF2B5EF4-FFF2-40B4-BE49-F238E27FC236}">
                <a16:creationId xmlns:a16="http://schemas.microsoft.com/office/drawing/2014/main" id="{79FA1405-A3E5-88B2-C28B-485EC4DA095B}"/>
              </a:ext>
            </a:extLst>
          </p:cNvPr>
          <p:cNvSpPr txBox="1"/>
          <p:nvPr/>
        </p:nvSpPr>
        <p:spPr>
          <a:xfrm>
            <a:off x="2537127" y="1866900"/>
            <a:ext cx="4766177"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User Perspective:</a:t>
            </a:r>
            <a:endParaRPr lang="en-IN" sz="4800" b="1" dirty="0">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7218E6C6-8365-C834-4F8A-406D584647E9}"/>
              </a:ext>
            </a:extLst>
          </p:cNvPr>
          <p:cNvPicPr>
            <a:picLocks noChangeAspect="1"/>
          </p:cNvPicPr>
          <p:nvPr/>
        </p:nvPicPr>
        <p:blipFill>
          <a:blip r:embed="rId3"/>
          <a:stretch>
            <a:fillRect/>
          </a:stretch>
        </p:blipFill>
        <p:spPr>
          <a:xfrm>
            <a:off x="2494800" y="3162300"/>
            <a:ext cx="13298400" cy="6324600"/>
          </a:xfrm>
          <a:prstGeom prst="rect">
            <a:avLst/>
          </a:prstGeom>
        </p:spPr>
      </p:pic>
    </p:spTree>
    <p:extLst>
      <p:ext uri="{BB962C8B-B14F-4D97-AF65-F5344CB8AC3E}">
        <p14:creationId xmlns:p14="http://schemas.microsoft.com/office/powerpoint/2010/main" val="1658997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D32E-1A30-4510-6B5D-D05250246464}"/>
            </a:ext>
          </a:extLst>
        </p:cNvPr>
        <p:cNvGrpSpPr/>
        <p:nvPr/>
      </p:nvGrpSpPr>
      <p:grpSpPr>
        <a:xfrm>
          <a:off x="0" y="0"/>
          <a:ext cx="0" cy="0"/>
          <a:chOff x="0" y="0"/>
          <a:chExt cx="0" cy="0"/>
        </a:xfrm>
      </p:grpSpPr>
      <p:grpSp>
        <p:nvGrpSpPr>
          <p:cNvPr id="2" name="Group 7">
            <a:extLst>
              <a:ext uri="{FF2B5EF4-FFF2-40B4-BE49-F238E27FC236}">
                <a16:creationId xmlns:a16="http://schemas.microsoft.com/office/drawing/2014/main" id="{6D4D705F-F7BD-6E16-79B6-97B9256CE9C5}"/>
              </a:ext>
            </a:extLst>
          </p:cNvPr>
          <p:cNvGrpSpPr/>
          <p:nvPr/>
        </p:nvGrpSpPr>
        <p:grpSpPr>
          <a:xfrm>
            <a:off x="735588" y="6653894"/>
            <a:ext cx="992463" cy="992463"/>
            <a:chOff x="0" y="0"/>
            <a:chExt cx="812800" cy="812800"/>
          </a:xfrm>
        </p:grpSpPr>
        <p:sp>
          <p:nvSpPr>
            <p:cNvPr id="3" name="Freeform 8">
              <a:extLst>
                <a:ext uri="{FF2B5EF4-FFF2-40B4-BE49-F238E27FC236}">
                  <a16:creationId xmlns:a16="http://schemas.microsoft.com/office/drawing/2014/main" id="{4CF5F457-C79D-9B1E-1A3A-749795F602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4" name="TextBox 9">
              <a:extLst>
                <a:ext uri="{FF2B5EF4-FFF2-40B4-BE49-F238E27FC236}">
                  <a16:creationId xmlns:a16="http://schemas.microsoft.com/office/drawing/2014/main" id="{72350300-7748-D10D-2C87-EEA6481F893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5" name="Group 10">
            <a:extLst>
              <a:ext uri="{FF2B5EF4-FFF2-40B4-BE49-F238E27FC236}">
                <a16:creationId xmlns:a16="http://schemas.microsoft.com/office/drawing/2014/main" id="{15E6F844-3842-E494-F7AE-D5746353A037}"/>
              </a:ext>
            </a:extLst>
          </p:cNvPr>
          <p:cNvGrpSpPr/>
          <p:nvPr/>
        </p:nvGrpSpPr>
        <p:grpSpPr>
          <a:xfrm>
            <a:off x="977741" y="3315742"/>
            <a:ext cx="508158" cy="543805"/>
            <a:chOff x="0" y="0"/>
            <a:chExt cx="812800" cy="869819"/>
          </a:xfrm>
        </p:grpSpPr>
        <p:sp>
          <p:nvSpPr>
            <p:cNvPr id="6" name="Freeform 11">
              <a:extLst>
                <a:ext uri="{FF2B5EF4-FFF2-40B4-BE49-F238E27FC236}">
                  <a16:creationId xmlns:a16="http://schemas.microsoft.com/office/drawing/2014/main" id="{3379487C-B1D7-04BF-9B10-477B8CDC934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7" name="TextBox 12">
              <a:extLst>
                <a:ext uri="{FF2B5EF4-FFF2-40B4-BE49-F238E27FC236}">
                  <a16:creationId xmlns:a16="http://schemas.microsoft.com/office/drawing/2014/main" id="{99E8B100-2009-C100-1CB3-CDC0A1A75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8" name="Group 13">
            <a:extLst>
              <a:ext uri="{FF2B5EF4-FFF2-40B4-BE49-F238E27FC236}">
                <a16:creationId xmlns:a16="http://schemas.microsoft.com/office/drawing/2014/main" id="{F2171319-1DA7-471C-B6D1-C516F37B3927}"/>
              </a:ext>
            </a:extLst>
          </p:cNvPr>
          <p:cNvGrpSpPr/>
          <p:nvPr/>
        </p:nvGrpSpPr>
        <p:grpSpPr>
          <a:xfrm>
            <a:off x="977741" y="1982349"/>
            <a:ext cx="508158" cy="543805"/>
            <a:chOff x="0" y="0"/>
            <a:chExt cx="812800" cy="869819"/>
          </a:xfrm>
        </p:grpSpPr>
        <p:sp>
          <p:nvSpPr>
            <p:cNvPr id="9" name="Freeform 14">
              <a:extLst>
                <a:ext uri="{FF2B5EF4-FFF2-40B4-BE49-F238E27FC236}">
                  <a16:creationId xmlns:a16="http://schemas.microsoft.com/office/drawing/2014/main" id="{1F273685-D7F3-6C0F-8AD5-2B3FDE0308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5">
              <a:extLst>
                <a:ext uri="{FF2B5EF4-FFF2-40B4-BE49-F238E27FC236}">
                  <a16:creationId xmlns:a16="http://schemas.microsoft.com/office/drawing/2014/main" id="{3CE9C6C7-FF1E-7F04-5B7F-0F9611DE4CA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1" name="Group 16">
            <a:extLst>
              <a:ext uri="{FF2B5EF4-FFF2-40B4-BE49-F238E27FC236}">
                <a16:creationId xmlns:a16="http://schemas.microsoft.com/office/drawing/2014/main" id="{D1FD26C1-958B-9C5C-1405-5C18C85F4EFD}"/>
              </a:ext>
            </a:extLst>
          </p:cNvPr>
          <p:cNvGrpSpPr/>
          <p:nvPr/>
        </p:nvGrpSpPr>
        <p:grpSpPr>
          <a:xfrm>
            <a:off x="977741" y="3983373"/>
            <a:ext cx="508158" cy="543805"/>
            <a:chOff x="0" y="0"/>
            <a:chExt cx="812800" cy="869819"/>
          </a:xfrm>
        </p:grpSpPr>
        <p:sp>
          <p:nvSpPr>
            <p:cNvPr id="12" name="Freeform 17">
              <a:extLst>
                <a:ext uri="{FF2B5EF4-FFF2-40B4-BE49-F238E27FC236}">
                  <a16:creationId xmlns:a16="http://schemas.microsoft.com/office/drawing/2014/main" id="{BF38CCD2-D621-5348-B0C9-75A898F8303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8">
              <a:extLst>
                <a:ext uri="{FF2B5EF4-FFF2-40B4-BE49-F238E27FC236}">
                  <a16:creationId xmlns:a16="http://schemas.microsoft.com/office/drawing/2014/main" id="{762EE6ED-8819-88F1-8EFD-E3CB884411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4" name="Group 19">
            <a:extLst>
              <a:ext uri="{FF2B5EF4-FFF2-40B4-BE49-F238E27FC236}">
                <a16:creationId xmlns:a16="http://schemas.microsoft.com/office/drawing/2014/main" id="{9537305E-8EE0-098A-8ACC-AABF7E300C60}"/>
              </a:ext>
            </a:extLst>
          </p:cNvPr>
          <p:cNvGrpSpPr/>
          <p:nvPr/>
        </p:nvGrpSpPr>
        <p:grpSpPr>
          <a:xfrm>
            <a:off x="977741" y="2648112"/>
            <a:ext cx="508158" cy="543805"/>
            <a:chOff x="0" y="0"/>
            <a:chExt cx="812800" cy="869819"/>
          </a:xfrm>
        </p:grpSpPr>
        <p:sp>
          <p:nvSpPr>
            <p:cNvPr id="15" name="Freeform 20">
              <a:extLst>
                <a:ext uri="{FF2B5EF4-FFF2-40B4-BE49-F238E27FC236}">
                  <a16:creationId xmlns:a16="http://schemas.microsoft.com/office/drawing/2014/main" id="{5636579A-45C8-872E-5121-4DE6EFCC92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21">
              <a:extLst>
                <a:ext uri="{FF2B5EF4-FFF2-40B4-BE49-F238E27FC236}">
                  <a16:creationId xmlns:a16="http://schemas.microsoft.com/office/drawing/2014/main" id="{3C8CA5B2-1F66-7FF3-B71F-F25A864CB8C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7" name="Group 22">
            <a:extLst>
              <a:ext uri="{FF2B5EF4-FFF2-40B4-BE49-F238E27FC236}">
                <a16:creationId xmlns:a16="http://schemas.microsoft.com/office/drawing/2014/main" id="{2207D69E-A728-6D9F-0C3F-6E9C961110E3}"/>
              </a:ext>
            </a:extLst>
          </p:cNvPr>
          <p:cNvGrpSpPr/>
          <p:nvPr/>
        </p:nvGrpSpPr>
        <p:grpSpPr>
          <a:xfrm>
            <a:off x="977741" y="5318634"/>
            <a:ext cx="508158" cy="543805"/>
            <a:chOff x="0" y="0"/>
            <a:chExt cx="812800" cy="869819"/>
          </a:xfrm>
        </p:grpSpPr>
        <p:sp>
          <p:nvSpPr>
            <p:cNvPr id="18" name="Freeform 23">
              <a:extLst>
                <a:ext uri="{FF2B5EF4-FFF2-40B4-BE49-F238E27FC236}">
                  <a16:creationId xmlns:a16="http://schemas.microsoft.com/office/drawing/2014/main" id="{B66549CD-B9B2-0A64-588F-D83243CB54F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24">
              <a:extLst>
                <a:ext uri="{FF2B5EF4-FFF2-40B4-BE49-F238E27FC236}">
                  <a16:creationId xmlns:a16="http://schemas.microsoft.com/office/drawing/2014/main" id="{25327C0D-81C1-9619-1EED-26B6AF30433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0" name="Group 25">
            <a:extLst>
              <a:ext uri="{FF2B5EF4-FFF2-40B4-BE49-F238E27FC236}">
                <a16:creationId xmlns:a16="http://schemas.microsoft.com/office/drawing/2014/main" id="{C6B5031A-8E04-C128-79AD-BCBFD21D434C}"/>
              </a:ext>
            </a:extLst>
          </p:cNvPr>
          <p:cNvGrpSpPr/>
          <p:nvPr/>
        </p:nvGrpSpPr>
        <p:grpSpPr>
          <a:xfrm>
            <a:off x="977741" y="4651003"/>
            <a:ext cx="508158" cy="543805"/>
            <a:chOff x="0" y="0"/>
            <a:chExt cx="812800" cy="869819"/>
          </a:xfrm>
        </p:grpSpPr>
        <p:sp>
          <p:nvSpPr>
            <p:cNvPr id="21" name="Freeform 26">
              <a:extLst>
                <a:ext uri="{FF2B5EF4-FFF2-40B4-BE49-F238E27FC236}">
                  <a16:creationId xmlns:a16="http://schemas.microsoft.com/office/drawing/2014/main" id="{7451DA83-B0BE-01E7-0AF8-6726F2B1D4C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7">
              <a:extLst>
                <a:ext uri="{FF2B5EF4-FFF2-40B4-BE49-F238E27FC236}">
                  <a16:creationId xmlns:a16="http://schemas.microsoft.com/office/drawing/2014/main" id="{8277FD46-E4EE-7B57-0CAE-7773E1D52DE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8">
            <a:extLst>
              <a:ext uri="{FF2B5EF4-FFF2-40B4-BE49-F238E27FC236}">
                <a16:creationId xmlns:a16="http://schemas.microsoft.com/office/drawing/2014/main" id="{760ABA10-33CA-FBF3-D61B-B6C8E545725E}"/>
              </a:ext>
            </a:extLst>
          </p:cNvPr>
          <p:cNvGrpSpPr/>
          <p:nvPr/>
        </p:nvGrpSpPr>
        <p:grpSpPr>
          <a:xfrm>
            <a:off x="977741" y="5986264"/>
            <a:ext cx="508158" cy="543805"/>
            <a:chOff x="0" y="0"/>
            <a:chExt cx="812800" cy="869819"/>
          </a:xfrm>
        </p:grpSpPr>
        <p:sp>
          <p:nvSpPr>
            <p:cNvPr id="24" name="Freeform 29">
              <a:extLst>
                <a:ext uri="{FF2B5EF4-FFF2-40B4-BE49-F238E27FC236}">
                  <a16:creationId xmlns:a16="http://schemas.microsoft.com/office/drawing/2014/main" id="{4168983E-FEB6-9624-F661-79B53FAB3CD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30">
              <a:extLst>
                <a:ext uri="{FF2B5EF4-FFF2-40B4-BE49-F238E27FC236}">
                  <a16:creationId xmlns:a16="http://schemas.microsoft.com/office/drawing/2014/main" id="{71E85487-715D-8560-22C3-489E7E827EB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6" name="Group 31">
            <a:extLst>
              <a:ext uri="{FF2B5EF4-FFF2-40B4-BE49-F238E27FC236}">
                <a16:creationId xmlns:a16="http://schemas.microsoft.com/office/drawing/2014/main" id="{3E630048-A1F6-759D-E278-1BF0CEED1FE3}"/>
              </a:ext>
            </a:extLst>
          </p:cNvPr>
          <p:cNvGrpSpPr/>
          <p:nvPr/>
        </p:nvGrpSpPr>
        <p:grpSpPr>
          <a:xfrm>
            <a:off x="977741" y="7760846"/>
            <a:ext cx="508158" cy="543805"/>
            <a:chOff x="0" y="0"/>
            <a:chExt cx="812800" cy="869819"/>
          </a:xfrm>
        </p:grpSpPr>
        <p:sp>
          <p:nvSpPr>
            <p:cNvPr id="27" name="Freeform 32">
              <a:extLst>
                <a:ext uri="{FF2B5EF4-FFF2-40B4-BE49-F238E27FC236}">
                  <a16:creationId xmlns:a16="http://schemas.microsoft.com/office/drawing/2014/main" id="{1C299B2E-5C72-9A0B-65D9-FD77016375B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33">
              <a:extLst>
                <a:ext uri="{FF2B5EF4-FFF2-40B4-BE49-F238E27FC236}">
                  <a16:creationId xmlns:a16="http://schemas.microsoft.com/office/drawing/2014/main" id="{7F4507F2-9FEA-8F2F-809F-2FA85B23526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9" name="Freeform 34">
            <a:extLst>
              <a:ext uri="{FF2B5EF4-FFF2-40B4-BE49-F238E27FC236}">
                <a16:creationId xmlns:a16="http://schemas.microsoft.com/office/drawing/2014/main" id="{41EF6803-2A15-2109-2768-EC71D1D2975E}"/>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0" name="TextBox 29">
            <a:extLst>
              <a:ext uri="{FF2B5EF4-FFF2-40B4-BE49-F238E27FC236}">
                <a16:creationId xmlns:a16="http://schemas.microsoft.com/office/drawing/2014/main" id="{4433C656-26B5-B429-858C-B3452E2270F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1628C1C1-0938-C911-B272-1022282FD4DD}"/>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2" name="TextBox 31">
            <a:extLst>
              <a:ext uri="{FF2B5EF4-FFF2-40B4-BE49-F238E27FC236}">
                <a16:creationId xmlns:a16="http://schemas.microsoft.com/office/drawing/2014/main" id="{73573066-F2A9-A855-0785-F1D0CC27CC76}"/>
              </a:ext>
            </a:extLst>
          </p:cNvPr>
          <p:cNvSpPr txBox="1"/>
          <p:nvPr/>
        </p:nvSpPr>
        <p:spPr>
          <a:xfrm>
            <a:off x="2537127" y="1866900"/>
            <a:ext cx="4766177" cy="830997"/>
          </a:xfrm>
          <a:prstGeom prst="rect">
            <a:avLst/>
          </a:prstGeom>
          <a:noFill/>
        </p:spPr>
        <p:txBody>
          <a:bodyPr wrap="none" rtlCol="0">
            <a:spAutoFit/>
          </a:bodyPr>
          <a:lstStyle/>
          <a:p>
            <a:r>
              <a:rPr lang="en-US" sz="4800" b="1" dirty="0">
                <a:latin typeface="Times New Roman" panose="02020603050405020304" pitchFamily="18" charset="0"/>
                <a:cs typeface="Times New Roman" panose="02020603050405020304" pitchFamily="18" charset="0"/>
              </a:rPr>
              <a:t>User Perspective:</a:t>
            </a:r>
            <a:endParaRPr lang="en-IN" sz="4800" b="1" dirty="0">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375EB50E-B9F4-B8C5-B55B-1F59C1792368}"/>
              </a:ext>
            </a:extLst>
          </p:cNvPr>
          <p:cNvPicPr>
            <a:picLocks noChangeAspect="1"/>
          </p:cNvPicPr>
          <p:nvPr/>
        </p:nvPicPr>
        <p:blipFill>
          <a:blip r:embed="rId3"/>
          <a:stretch>
            <a:fillRect/>
          </a:stretch>
        </p:blipFill>
        <p:spPr>
          <a:xfrm>
            <a:off x="2514600" y="3162300"/>
            <a:ext cx="13156773" cy="6332400"/>
          </a:xfrm>
          <a:prstGeom prst="rect">
            <a:avLst/>
          </a:prstGeom>
        </p:spPr>
      </p:pic>
    </p:spTree>
    <p:extLst>
      <p:ext uri="{BB962C8B-B14F-4D97-AF65-F5344CB8AC3E}">
        <p14:creationId xmlns:p14="http://schemas.microsoft.com/office/powerpoint/2010/main" val="2821079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F4466FCD-738D-9465-2D05-5D10B855149A}"/>
              </a:ext>
            </a:extLst>
          </p:cNvPr>
          <p:cNvSpPr txBox="1"/>
          <p:nvPr/>
        </p:nvSpPr>
        <p:spPr>
          <a:xfrm>
            <a:off x="2221832" y="1562100"/>
            <a:ext cx="14091588" cy="4524315"/>
          </a:xfrm>
          <a:prstGeom prst="rect">
            <a:avLst/>
          </a:prstGeom>
          <a:noFill/>
        </p:spPr>
        <p:txBody>
          <a:bodyPr wrap="square">
            <a:spAutoFit/>
          </a:bodyPr>
          <a:lstStyle/>
          <a:p>
            <a:pPr algn="just">
              <a:buNone/>
            </a:pPr>
            <a:r>
              <a:rPr lang="en-US" sz="3200" b="1" dirty="0">
                <a:latin typeface="Times New Roman" panose="02020603050405020304" pitchFamily="18" charset="0"/>
                <a:cs typeface="Times New Roman" panose="02020603050405020304" pitchFamily="18" charset="0"/>
              </a:rPr>
              <a:t>ADVANTAGES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Centralized platform for managing all campus events in a single, organized system.</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Quick and easy ticket booking process that saves time compared to manual registration.</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Reduces manual work and paperwork by automating the entire booking process.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Minimizes data entry errors through validation and structured input handling.</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real-time updates and instant booking confirmations to users.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Smooth and interactive user experience using React without page reloads.</a:t>
            </a:r>
            <a:endParaRPr lang="en-US" sz="48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A474B8F8-86CE-C62F-C420-66D18EB3F091}"/>
              </a:ext>
            </a:extLst>
          </p:cNvPr>
          <p:cNvSpPr txBox="1"/>
          <p:nvPr/>
        </p:nvSpPr>
        <p:spPr>
          <a:xfrm>
            <a:off x="2221832" y="6053469"/>
            <a:ext cx="13335000" cy="4031873"/>
          </a:xfrm>
          <a:prstGeom prst="rect">
            <a:avLst/>
          </a:prstGeom>
          <a:noFill/>
        </p:spPr>
        <p:txBody>
          <a:bodyPr wrap="square">
            <a:spAutoFit/>
          </a:bodyPr>
          <a:lstStyle/>
          <a:p>
            <a:pPr algn="just">
              <a:buNone/>
            </a:pPr>
            <a:r>
              <a:rPr lang="en-US" sz="3200" b="1" dirty="0">
                <a:latin typeface="Times New Roman" panose="02020603050405020304" pitchFamily="18" charset="0"/>
                <a:cs typeface="Times New Roman" panose="02020603050405020304" pitchFamily="18" charset="0"/>
              </a:rPr>
              <a:t>LIMITATIONS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Requires stable internet connection for accessing and using the system.</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scalability, making it less suitable for large-scale or high-traffic events.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No online payment integration, restricting use for paid event bookings.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Basic security features without advanced authentication or encryption.</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Depends on local server setup like XAMPP or Node for deployment.</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No notification system such as email or SMS alerts for users.</a:t>
            </a:r>
          </a:p>
        </p:txBody>
      </p:sp>
    </p:spTree>
    <p:extLst>
      <p:ext uri="{BB962C8B-B14F-4D97-AF65-F5344CB8AC3E}">
        <p14:creationId xmlns:p14="http://schemas.microsoft.com/office/powerpoint/2010/main" val="183897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724</TotalTime>
  <Words>1399</Words>
  <Application>Microsoft Office PowerPoint</Application>
  <PresentationFormat>Custom</PresentationFormat>
  <Paragraphs>285</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Cambria</vt:lpstr>
      <vt:lpstr>Arial</vt:lpstr>
      <vt:lpstr>Gotham</vt:lpstr>
      <vt:lpstr>Gotham Bold Italics</vt:lpstr>
      <vt:lpstr>Times New Roman</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madhu thatiparthi</cp:lastModifiedBy>
  <cp:revision>27</cp:revision>
  <dcterms:created xsi:type="dcterms:W3CDTF">2006-08-16T00:00:00Z</dcterms:created>
  <dcterms:modified xsi:type="dcterms:W3CDTF">2026-05-05T11:11:37Z</dcterms:modified>
  <dc:identifier>DAHCaYqJ9OU</dc:identifier>
</cp:coreProperties>
</file>